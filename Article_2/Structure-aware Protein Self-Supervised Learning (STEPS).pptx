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معرفی عنوان مقاله و نویسندگان.
- اشاره به اینکه ارائه بر اساس مقاله استاد است.
- هدف: فهم مفهومی روش STEPS و استخراج نکات کلیدی.
- آمادگی برای پاسخ به چالش‌های ارائه.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بیشتر روش‌های SSL پروتئین فقط توالی محور هستند.
- اطلاعات ساختاری برای آنوتیشن عملکرد حیاتی است.
- داده‌های برچسب‌دار کم است و آزمایش wet-lab گران است.
- این کمبودها انگیزه روش STEPS را شکل می‌دهند.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STEPS یک Protein LM پیش‌آموزده دیده را با GNN ترکیب می‌کند.
- دو تسک خودنظارتی ساختاری معرفی می‌شود: Distance و Angle.
- اولین روشی که ساختار سه‌بعدی را به طور صریح در SSL پروتئین تزریق می‌کند.
- توالی و ساختار همزمان وارد مدل می‌شوند تا نمایش غنی‌تر شکل گیرد.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گراف: نودها = آمینواسیدها، یال = فاصله کمتر از 7Å.
- ورودی شامل embedding از PLM، ویژگی زاویه‌ای و edge feature است.
- دو head: Distance (طبقه‌بندی) و Angle (ممیزی).
- Mutual Information نمایش توالی و ساختار را هم‌راستا می‌کند.
- Pseudo Bi-level Optimization به‌روزرسانی PLM و GNN را هماهنگ می‌کند.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تسک Distance یک طبقه‌بندی چندکلاسه است با Cross-Entropy.
- این تسک شکل کلی backbone را رمزگذاری می‌کند.
- تسک Angle یک رگرسیون MSE است که خمیدگی محلی را یاد می‌گیرد.
- ترکیب L_dis و L_ang نمایش ساختاری غنی‌تر می‌سازد.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STEPS در هر سه benchmark بهترین دقت را دارد.
- بیشترین بهبود در C384 با ۳۶٪ نسبت به baseline.
- مطالعات ablation در اسلاید بعد بررسی می‌شود.
- ترکیب توالی و ساختار برای عملکرد بالا ضروری است.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داده ساختاری معتبر، گلوگاه اصلی یادگیری است.
- ترازسازی دقیق sequence و structure برای هر residue ضروری است.
- ساختار نامعتبر مستقیماً به افت عملکرد مدل می‌انجامد.
- مطالعات ablation نشان می‌دهد هر چهار جزء ضروری هستند.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STEPS نخستین روش خودنظارتی آگاه از ساختار پروتئین است.
- سه نوآوری: دو تسک ساختاری، GNN، و Pseudo Bi-level Optimization.
- کاربرد عملی برای پژوهش‌های زیست‌شناسی و دارورسانی.
- تشکر از مخاطبان و معرفی منبع مقاله.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5750"/>
            <a:ext cx="8636000" cy="38576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571625" y="4000500"/>
            <a:ext cx="2357438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B254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◐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552172" y="248803"/>
            <a:ext cx="42863" cy="42863"/>
          </a:xfrm>
          <a:prstGeom prst="roundRect">
            <a:avLst>
              <a:gd name="adj" fmla="val 66666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174828" y="200025"/>
            <a:ext cx="15691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spc="68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729663" y="2974479"/>
            <a:ext cx="0" cy="573956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32485" y="3723456"/>
            <a:ext cx="5111465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7710" y="4804172"/>
            <a:ext cx="5765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97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 / 08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172450" y="967532"/>
            <a:ext cx="571500" cy="28575"/>
          </a:xfrm>
          <a:prstGeom prst="roundRect">
            <a:avLst>
              <a:gd name="adj" fmla="val 66667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32485" y="1124694"/>
            <a:ext cx="5111465" cy="93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402"/>
              </a:lnSpc>
              <a:buNone/>
            </a:pPr>
            <a:r>
              <a:rPr lang="en-US" sz="3150" b="1" spc="-28" kern="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Structure-aware Protein</a:t>
            </a:r>
            <a:endParaRPr lang="en-US" sz="3150" dirty="0"/>
          </a:p>
          <a:p>
            <a:pPr algn="r" indent="0" marL="0">
              <a:lnSpc>
                <a:spcPts val="3402"/>
              </a:lnSpc>
              <a:buNone/>
            </a:pPr>
            <a:r>
              <a:rPr lang="en-US" sz="3150" b="1" spc="-28" kern="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Self-Supervised Learning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3223568" y="2102941"/>
            <a:ext cx="5520382" cy="324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363"/>
              </a:lnSpc>
              <a:buNone/>
            </a:pPr>
            <a:r>
              <a:rPr lang="en-US" sz="1688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یادگیری خودنظارتی آگاه از ساختار پروتئین</a:t>
            </a:r>
            <a:endParaRPr lang="en-US" sz="1688" dirty="0"/>
          </a:p>
        </p:txBody>
      </p:sp>
      <p:sp>
        <p:nvSpPr>
          <p:cNvPr id="12" name="Text 10"/>
          <p:cNvSpPr/>
          <p:nvPr/>
        </p:nvSpPr>
        <p:spPr>
          <a:xfrm>
            <a:off x="6815026" y="2545854"/>
            <a:ext cx="1928924" cy="257175"/>
          </a:xfrm>
          <a:prstGeom prst="roundRect">
            <a:avLst>
              <a:gd name="adj" fmla="val 3700000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15038" y="2619077"/>
            <a:ext cx="1303400" cy="126609"/>
          </a:xfrm>
          <a:prstGeom prst="rect">
            <a:avLst/>
          </a:prstGeom>
          <a:noFill/>
          <a:ln/>
        </p:spPr>
        <p:txBody>
          <a:bodyPr wrap="none" lIns="100013" tIns="42863" rIns="100013" bIns="42863" rtlCol="0" anchor="t"/>
          <a:lstStyle/>
          <a:p>
            <a:pPr algn="r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ارائه بر اساس مقاله استاد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75588" y="2588716"/>
            <a:ext cx="3683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125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32485" y="2974479"/>
            <a:ext cx="5111465" cy="5739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319008" y="3103066"/>
            <a:ext cx="253492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547" dirty="0"/>
          </a:p>
        </p:txBody>
      </p:sp>
      <p:sp>
        <p:nvSpPr>
          <p:cNvPr id="17" name="Text 14"/>
          <p:cNvSpPr/>
          <p:nvPr/>
        </p:nvSpPr>
        <p:spPr>
          <a:xfrm>
            <a:off x="3775360" y="3088779"/>
            <a:ext cx="4457923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b="1" spc="56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هدف ارائه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741664" y="3245941"/>
            <a:ext cx="3491619" cy="18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فهم مفهومی، استخراج نکات کلیدی و پاسخ به چالش‌های ارائه</a:t>
            </a:r>
            <a:endParaRPr lang="en-US" sz="872" dirty="0"/>
          </a:p>
        </p:txBody>
      </p:sp>
      <p:sp>
        <p:nvSpPr>
          <p:cNvPr id="19" name="Text 16"/>
          <p:cNvSpPr/>
          <p:nvPr/>
        </p:nvSpPr>
        <p:spPr>
          <a:xfrm>
            <a:off x="3632485" y="3827041"/>
            <a:ext cx="5111465" cy="161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Can (Sam) Chen, Jingbo Zhou, Fan Wang, Xue Liu, Dejing Dou</a:t>
            </a:r>
            <a:endParaRPr lang="en-US" sz="844" dirty="0"/>
          </a:p>
        </p:txBody>
      </p:sp>
      <p:sp>
        <p:nvSpPr>
          <p:cNvPr id="20" name="Text 17"/>
          <p:cNvSpPr/>
          <p:nvPr/>
        </p:nvSpPr>
        <p:spPr>
          <a:xfrm>
            <a:off x="3632485" y="4016350"/>
            <a:ext cx="5111465" cy="163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spc="11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McGill University · MILA · Baidu Research · BCG X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632485" y="4207446"/>
            <a:ext cx="5111465" cy="139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spc="23" kern="0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pPr algn="r" indent="0" marL="0">
              <a:lnSpc>
                <a:spcPts val="1013"/>
              </a:lnSpc>
              <a:buNone/>
            </a:pPr>
            <a:r>
              <a:rPr lang="en-US" sz="800" spc="23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Bioinformatics (2023) — Oxford Academic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23355" y="1643063"/>
            <a:ext cx="1557338" cy="1557338"/>
          </a:xfrm>
          <a:prstGeom prst="ellipse">
            <a:avLst/>
          </a:prstGeom>
          <a:noFill/>
          <a:ln w="14288">
            <a:solidFill>
              <a:srgbClr val="13C2C2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1287661" y="1807369"/>
            <a:ext cx="1228725" cy="1228725"/>
          </a:xfrm>
          <a:prstGeom prst="ellipse">
            <a:avLst/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1332309" y="1852017"/>
            <a:ext cx="1139428" cy="11394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4800" dirty="0"/>
          </a:p>
        </p:txBody>
      </p:sp>
      <p:sp>
        <p:nvSpPr>
          <p:cNvPr id="25" name="Text 22"/>
          <p:cNvSpPr/>
          <p:nvPr/>
        </p:nvSpPr>
        <p:spPr>
          <a:xfrm>
            <a:off x="1044773" y="1564481"/>
            <a:ext cx="257175" cy="257175"/>
          </a:xfrm>
          <a:prstGeom prst="ellipse">
            <a:avLst/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1069777" y="1589484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1406" dirty="0"/>
          </a:p>
        </p:txBody>
      </p:sp>
      <p:sp>
        <p:nvSpPr>
          <p:cNvPr id="27" name="Text 24"/>
          <p:cNvSpPr/>
          <p:nvPr/>
        </p:nvSpPr>
        <p:spPr>
          <a:xfrm>
            <a:off x="2416373" y="3050381"/>
            <a:ext cx="214313" cy="214313"/>
          </a:xfrm>
          <a:prstGeom prst="ellipse">
            <a:avLst/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2440662" y="3074670"/>
            <a:ext cx="165735" cy="165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29" name="Text 26"/>
          <p:cNvSpPr/>
          <p:nvPr/>
        </p:nvSpPr>
        <p:spPr>
          <a:xfrm>
            <a:off x="903724" y="3378994"/>
            <a:ext cx="1996711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b="1" spc="169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SEQUENCE × STRUCTURE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144074" y="3539728"/>
            <a:ext cx="15160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توالی × ساختار سه‌بعدی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068" y="257175"/>
            <a:ext cx="76795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600"/>
              </a:lnSpc>
              <a:buNone/>
            </a:pPr>
            <a:r>
              <a:rPr lang="en-US" sz="3600" b="1" spc="-112" kern="0" dirty="0">
                <a:solidFill>
                  <a:srgbClr val="0B2545">
                    <a:alpha val="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9664" y="371475"/>
            <a:ext cx="6384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343900" y="442913"/>
            <a:ext cx="400050" cy="35719"/>
          </a:xfrm>
          <a:prstGeom prst="roundRect">
            <a:avLst>
              <a:gd name="adj" fmla="val 79999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92931"/>
            <a:ext cx="8636000" cy="2896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مسئله و چرا این مقاله؟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910047"/>
            <a:ext cx="8636000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چرا نمایش پروتئین ناقص است و چه کمبودهایی وجود دارد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6846272" y="1244017"/>
            <a:ext cx="845761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b="1" spc="84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چالش‌های موجود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49183" y="1208298"/>
            <a:ext cx="99476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3840435" y="1536911"/>
            <a:ext cx="4903515" cy="724644"/>
          </a:xfrm>
          <a:prstGeom prst="roundRect">
            <a:avLst>
              <a:gd name="adj" fmla="val 15773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840435" y="1540483"/>
            <a:ext cx="4903515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29663" y="1536911"/>
            <a:ext cx="0" cy="724644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35" y="2257983"/>
            <a:ext cx="4903515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4007" y="1536911"/>
            <a:ext cx="0" cy="724644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15325" y="1644067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44257" y="1672999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⇄</a:t>
            </a:r>
            <a:endParaRPr lang="en-US" sz="1547" dirty="0"/>
          </a:p>
        </p:txBody>
      </p:sp>
      <p:sp>
        <p:nvSpPr>
          <p:cNvPr id="16" name="Text 14"/>
          <p:cNvSpPr/>
          <p:nvPr/>
        </p:nvSpPr>
        <p:spPr>
          <a:xfrm>
            <a:off x="3961879" y="1644067"/>
            <a:ext cx="4267721" cy="167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نادیده گرفتن ساختار سه‌بعدی</a:t>
            </a:r>
            <a:endParaRPr lang="en-US" sz="872" dirty="0"/>
          </a:p>
        </p:txBody>
      </p:sp>
      <p:sp>
        <p:nvSpPr>
          <p:cNvPr id="17" name="Text 15"/>
          <p:cNvSpPr/>
          <p:nvPr/>
        </p:nvSpPr>
        <p:spPr>
          <a:xfrm>
            <a:off x="3961879" y="1838734"/>
            <a:ext cx="4267721" cy="31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بیشتر مدل‌ها فقط از توالی آمینواسید استفاده می‌کنند و ساختار سه‌بعدی پروتئین را نادیده می‌گیرند، در حالی که عملکرد پروتئین مستقیماً به شکل فضایی آن وابسته است.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840435" y="2347280"/>
            <a:ext cx="4903515" cy="724644"/>
          </a:xfrm>
          <a:prstGeom prst="roundRect">
            <a:avLst>
              <a:gd name="adj" fmla="val 15773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840435" y="2350852"/>
            <a:ext cx="4903515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29663" y="2347280"/>
            <a:ext cx="0" cy="724644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35" y="3068352"/>
            <a:ext cx="4903515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4007" y="2347280"/>
            <a:ext cx="0" cy="724644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15325" y="2454436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344257" y="248336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1547" dirty="0"/>
          </a:p>
        </p:txBody>
      </p:sp>
      <p:sp>
        <p:nvSpPr>
          <p:cNvPr id="25" name="Text 23"/>
          <p:cNvSpPr/>
          <p:nvPr/>
        </p:nvSpPr>
        <p:spPr>
          <a:xfrm>
            <a:off x="3961879" y="2454436"/>
            <a:ext cx="4267721" cy="167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دقت پایین در آنوتیشن عملکرد</a:t>
            </a:r>
            <a:endParaRPr lang="en-US" sz="872" dirty="0"/>
          </a:p>
        </p:txBody>
      </p:sp>
      <p:sp>
        <p:nvSpPr>
          <p:cNvPr id="26" name="Text 24"/>
          <p:cNvSpPr/>
          <p:nvPr/>
        </p:nvSpPr>
        <p:spPr>
          <a:xfrm>
            <a:off x="3961879" y="2649103"/>
            <a:ext cx="4267721" cy="31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نمایش ناقص پروتئین منجر به دقت پایین در آنوتیشن عملکرد و دسته‌بندی واکنش‌های آنزیمی می‌شود که در کاربردهای زیستی حیاتی است.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840435" y="3157649"/>
            <a:ext cx="4903515" cy="724644"/>
          </a:xfrm>
          <a:prstGeom prst="roundRect">
            <a:avLst>
              <a:gd name="adj" fmla="val 15773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840435" y="3161221"/>
            <a:ext cx="4903515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29663" y="3157649"/>
            <a:ext cx="0" cy="724644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0435" y="3878721"/>
            <a:ext cx="4903515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4007" y="3157649"/>
            <a:ext cx="0" cy="724644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15325" y="3264805"/>
            <a:ext cx="285750" cy="285750"/>
          </a:xfrm>
          <a:prstGeom prst="roundRect">
            <a:avLst>
              <a:gd name="adj" fmla="val 33333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344257" y="3293738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1547" dirty="0"/>
          </a:p>
        </p:txBody>
      </p:sp>
      <p:sp>
        <p:nvSpPr>
          <p:cNvPr id="34" name="Text 32"/>
          <p:cNvSpPr/>
          <p:nvPr/>
        </p:nvSpPr>
        <p:spPr>
          <a:xfrm>
            <a:off x="3961879" y="3264805"/>
            <a:ext cx="4267721" cy="1672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کمبود داده‌های برچسب‌دار</a:t>
            </a:r>
            <a:endParaRPr lang="en-US" sz="872" dirty="0"/>
          </a:p>
        </p:txBody>
      </p:sp>
      <p:sp>
        <p:nvSpPr>
          <p:cNvPr id="35" name="Text 33"/>
          <p:cNvSpPr/>
          <p:nvPr/>
        </p:nvSpPr>
        <p:spPr>
          <a:xfrm>
            <a:off x="3961879" y="3459473"/>
            <a:ext cx="4267721" cy="31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هزینه و زمان بالای آزمایش‌های آزمایشگاهی (wet-lab) باعث کمبود داده‌های برچسب‌دار پروتئین می‌شود که یادگیری نظارت‌شده را محدود می‌کند.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42125" y="1244017"/>
            <a:ext cx="845761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b="1" spc="84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داده‌های کلیدی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145036" y="1208298"/>
            <a:ext cx="52394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125" dirty="0"/>
          </a:p>
        </p:txBody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1536911"/>
            <a:ext cx="3268935" cy="712589"/>
          </a:xfrm>
          <a:prstGeom prst="rect">
            <a:avLst/>
          </a:prstGeom>
        </p:spPr>
      </p:pic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2335225"/>
            <a:ext cx="3268935" cy="712589"/>
          </a:xfrm>
          <a:prstGeom prst="rect">
            <a:avLst/>
          </a:prstGeom>
        </p:spPr>
      </p:pic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3133539"/>
            <a:ext cx="3268935" cy="712589"/>
          </a:xfrm>
          <a:prstGeom prst="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400050" y="4811316"/>
            <a:ext cx="8343900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721985" y="4886325"/>
            <a:ext cx="102196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43" name="Text 38"/>
          <p:cNvSpPr/>
          <p:nvPr/>
        </p:nvSpPr>
        <p:spPr>
          <a:xfrm>
            <a:off x="400050" y="4886325"/>
            <a:ext cx="17156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۲ / ۸</a:t>
            </a:r>
            <a:endParaRPr lang="en-US" sz="800" dirty="0"/>
          </a:p>
        </p:txBody>
      </p:sp>
      <p:sp>
        <p:nvSpPr>
          <p:cNvPr id="44" name="Text 39"/>
          <p:cNvSpPr/>
          <p:nvPr/>
        </p:nvSpPr>
        <p:spPr>
          <a:xfrm>
            <a:off x="2727725" y="1651211"/>
            <a:ext cx="812673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۹۹٪</a:t>
            </a:r>
            <a:endParaRPr lang="en-US" sz="2250" dirty="0"/>
          </a:p>
        </p:txBody>
      </p:sp>
      <p:sp>
        <p:nvSpPr>
          <p:cNvPr id="45" name="Text 40"/>
          <p:cNvSpPr/>
          <p:nvPr/>
        </p:nvSpPr>
        <p:spPr>
          <a:xfrm>
            <a:off x="528638" y="2001255"/>
            <a:ext cx="3011760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C8D4E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پروتئین‌های توالی‌شناخته‌شده بدون ساختار معتبر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2727725" y="2449525"/>
            <a:ext cx="812673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۳۸۴</a:t>
            </a:r>
            <a:endParaRPr lang="en-US" sz="2250" dirty="0"/>
          </a:p>
        </p:txBody>
      </p:sp>
      <p:sp>
        <p:nvSpPr>
          <p:cNvPr id="47" name="Text 42"/>
          <p:cNvSpPr/>
          <p:nvPr/>
        </p:nvSpPr>
        <p:spPr>
          <a:xfrm>
            <a:off x="528638" y="2799569"/>
            <a:ext cx="3011760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C8D4E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کلاس واکنش آنزیمی (C384) برای دسته‌بندی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2734956" y="3247839"/>
            <a:ext cx="805442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250"/>
              </a:lnSpc>
              <a:buNone/>
            </a:pPr>
            <a:r>
              <a:rPr lang="en-US" sz="2250" b="1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۱۰×</a:t>
            </a:r>
            <a:endParaRPr lang="en-US" sz="2250" dirty="0"/>
          </a:p>
        </p:txBody>
      </p:sp>
      <p:sp>
        <p:nvSpPr>
          <p:cNvPr id="49" name="Text 44"/>
          <p:cNvSpPr/>
          <p:nvPr/>
        </p:nvSpPr>
        <p:spPr>
          <a:xfrm>
            <a:off x="528638" y="3597883"/>
            <a:ext cx="3011760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C8D4E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هزینه wet-lab نسبت به شبیه‌سازی محاسباتی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068" y="257175"/>
            <a:ext cx="76795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600"/>
              </a:lnSpc>
              <a:buNone/>
            </a:pPr>
            <a:r>
              <a:rPr lang="en-US" sz="3600" b="1" spc="-112" kern="0" dirty="0">
                <a:solidFill>
                  <a:srgbClr val="0B2545">
                    <a:alpha val="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9664" y="371475"/>
            <a:ext cx="6384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343900" y="442913"/>
            <a:ext cx="400050" cy="35719"/>
          </a:xfrm>
          <a:prstGeom prst="roundRect">
            <a:avLst>
              <a:gd name="adj" fmla="val 79999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92931"/>
            <a:ext cx="8636000" cy="2896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راه حل نوآورانه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" y="910047"/>
            <a:ext cx="8343900" cy="167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23"/>
              </a:lnSpc>
              <a:buNone/>
            </a:pPr>
            <a:r>
              <a:rPr lang="en-US" sz="816" spc="17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STructure-awarE Protein Self-supervised Learning</a:t>
            </a:r>
            <a:endParaRPr lang="en-US" sz="816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7096" y="1208298"/>
            <a:ext cx="2156854" cy="3357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15683" y="1315455"/>
            <a:ext cx="1456320" cy="125403"/>
          </a:xfrm>
          <a:prstGeom prst="rect">
            <a:avLst/>
          </a:prstGeom>
          <a:noFill/>
          <a:ln/>
        </p:spPr>
        <p:txBody>
          <a:bodyPr wrap="none" lIns="128588" tIns="71438" rIns="128588" bIns="71438" rtlCol="0" anchor="t"/>
          <a:lstStyle/>
          <a:p>
            <a:pPr algn="r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مدل ترکیبی: Protein LM + GNN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43441" y="1279736"/>
            <a:ext cx="37192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10" name="Text 7"/>
          <p:cNvSpPr/>
          <p:nvPr/>
        </p:nvSpPr>
        <p:spPr>
          <a:xfrm>
            <a:off x="4647009" y="1647639"/>
            <a:ext cx="4093369" cy="644723"/>
          </a:xfrm>
          <a:prstGeom prst="roundRect">
            <a:avLst>
              <a:gd name="adj" fmla="val 17729"/>
            </a:avLst>
          </a:prstGeom>
          <a:solidFill>
            <a:srgbClr val="F4F7FB"/>
          </a:solidFill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8379619" y="1736936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404622" y="1761939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13" name="Text 10"/>
          <p:cNvSpPr/>
          <p:nvPr/>
        </p:nvSpPr>
        <p:spPr>
          <a:xfrm>
            <a:off x="4750594" y="1736936"/>
            <a:ext cx="35433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ورود همزمان ساختار و توالی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750594" y="1908386"/>
            <a:ext cx="3543300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اطلاعات ساختاری سه‌بعدی و توالی آمینواسید به صورت همزمان وارد مدل می‌شوند تا نمایش غنی‌تری از پروتئین ساخته شود.</a:t>
            </a:r>
            <a:endParaRPr lang="en-US" sz="8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438" y="2367372"/>
            <a:ext cx="4100513" cy="6518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47009" y="2370944"/>
            <a:ext cx="4093369" cy="644723"/>
          </a:xfrm>
          <a:prstGeom prst="roundRect">
            <a:avLst>
              <a:gd name="adj" fmla="val 17729"/>
            </a:avLst>
          </a:prstGeom>
          <a:noFill/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8379619" y="2460241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8404622" y="2485244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19" name="Text 15"/>
          <p:cNvSpPr/>
          <p:nvPr/>
        </p:nvSpPr>
        <p:spPr>
          <a:xfrm>
            <a:off x="7880784" y="2473077"/>
            <a:ext cx="370247" cy="135731"/>
          </a:xfrm>
          <a:prstGeom prst="roundRect">
            <a:avLst>
              <a:gd name="adj" fmla="val 28070"/>
            </a:avLst>
          </a:prstGeom>
          <a:solidFill>
            <a:srgbClr val="0E8F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4750594" y="2460241"/>
            <a:ext cx="354330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181"/>
              </a:lnSpc>
              <a:buNone/>
            </a:pPr>
            <a:r>
              <a:rPr lang="en-US" sz="800" b="1" spc="28" kern="0" dirty="0">
                <a:solidFill>
                  <a:srgbClr val="FFFFFF"/>
                </a:solidFill>
                <a:highlight>
                  <a:srgbClr val="0E8F8F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TASK 1</a:t>
            </a:r>
            <a:pPr algn="r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Distance Prediction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4750594" y="2631691"/>
            <a:ext cx="3543300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یادگیری فاصله بین residueها در فضای سه‌بعدی برای درک شکل کلی backbone پروتئین.</a:t>
            </a:r>
            <a:endParaRPr lang="en-US" sz="8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38" y="3090676"/>
            <a:ext cx="4100513" cy="504527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647009" y="3094248"/>
            <a:ext cx="4093369" cy="497384"/>
          </a:xfrm>
          <a:prstGeom prst="roundRect">
            <a:avLst>
              <a:gd name="adj" fmla="val 22980"/>
            </a:avLst>
          </a:prstGeom>
          <a:noFill/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8379619" y="3183545"/>
            <a:ext cx="257175" cy="257175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8404622" y="3208548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406" dirty="0"/>
          </a:p>
        </p:txBody>
      </p:sp>
      <p:sp>
        <p:nvSpPr>
          <p:cNvPr id="26" name="Text 21"/>
          <p:cNvSpPr/>
          <p:nvPr/>
        </p:nvSpPr>
        <p:spPr>
          <a:xfrm>
            <a:off x="7880784" y="3196382"/>
            <a:ext cx="370247" cy="135731"/>
          </a:xfrm>
          <a:prstGeom prst="roundRect">
            <a:avLst>
              <a:gd name="adj" fmla="val 28070"/>
            </a:avLst>
          </a:prstGeom>
          <a:solidFill>
            <a:srgbClr val="0E8F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4806192" y="3183545"/>
            <a:ext cx="348770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181"/>
              </a:lnSpc>
              <a:buNone/>
            </a:pPr>
            <a:r>
              <a:rPr lang="en-US" sz="800" b="1" spc="28" kern="0" dirty="0">
                <a:solidFill>
                  <a:srgbClr val="FFFFFF"/>
                </a:solidFill>
                <a:highlight>
                  <a:srgbClr val="0E8F8F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TASK 2</a:t>
            </a:r>
            <a:pPr algn="r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Angle Prediction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972273" y="3354995"/>
            <a:ext cx="3321621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یادگیری و بازسازی زاویه‌های دیهدرال برای درک خمیدگی محلی backbone.</a:t>
            </a:r>
            <a:endParaRPr lang="en-US" sz="8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1208298"/>
            <a:ext cx="4100513" cy="353515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403622" y="1211870"/>
            <a:ext cx="4093369" cy="3528008"/>
          </a:xfrm>
          <a:prstGeom prst="roundRect">
            <a:avLst>
              <a:gd name="adj" fmla="val 3780"/>
            </a:avLst>
          </a:prstGeom>
          <a:noFill/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3570335" y="1302810"/>
            <a:ext cx="845932" cy="236030"/>
          </a:xfrm>
          <a:prstGeom prst="roundRect">
            <a:avLst>
              <a:gd name="adj" fmla="val 24213"/>
            </a:avLst>
          </a:prstGeom>
          <a:solidFill>
            <a:srgbClr val="FFFFFF"/>
          </a:solidFill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3664632" y="1371712"/>
            <a:ext cx="346025" cy="91440"/>
          </a:xfrm>
          <a:prstGeom prst="rect">
            <a:avLst/>
          </a:prstGeom>
          <a:noFill/>
          <a:ln/>
        </p:spPr>
        <p:txBody>
          <a:bodyPr wrap="none" lIns="64294" tIns="28575" rIns="64294" bIns="28575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FIGURE 1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4053520" y="1351173"/>
            <a:ext cx="268449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914" dirty="0"/>
          </a:p>
        </p:txBody>
      </p:sp>
      <p:pic>
        <p:nvPicPr>
          <p:cNvPr id="34" name="Image 4" descr="/tmp/h2p-fit-1781813885294-332at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206" y="1583345"/>
            <a:ext cx="3886200" cy="2872569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07206" y="4513064"/>
            <a:ext cx="3995928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i="1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شکل ۱ — نمای کلی رویکرد STEPS</a:t>
            </a:r>
            <a:endParaRPr lang="en-US" sz="800" dirty="0"/>
          </a:p>
        </p:txBody>
      </p:sp>
      <p:sp>
        <p:nvSpPr>
          <p:cNvPr id="36" name="Shape 29"/>
          <p:cNvSpPr/>
          <p:nvPr/>
        </p:nvSpPr>
        <p:spPr>
          <a:xfrm>
            <a:off x="400050" y="4811316"/>
            <a:ext cx="8343900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7721985" y="4886325"/>
            <a:ext cx="102196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38" name="Text 31"/>
          <p:cNvSpPr/>
          <p:nvPr/>
        </p:nvSpPr>
        <p:spPr>
          <a:xfrm>
            <a:off x="400050" y="4886325"/>
            <a:ext cx="17156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۳ / ۸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068" y="257175"/>
            <a:ext cx="76795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600"/>
              </a:lnSpc>
              <a:buNone/>
            </a:pPr>
            <a:r>
              <a:rPr lang="en-US" sz="3600" b="1" spc="-112" kern="0" dirty="0">
                <a:solidFill>
                  <a:srgbClr val="0B2545">
                    <a:alpha val="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9664" y="371475"/>
            <a:ext cx="6384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343900" y="442913"/>
            <a:ext cx="400050" cy="35719"/>
          </a:xfrm>
          <a:prstGeom prst="roundRect">
            <a:avLst>
              <a:gd name="adj" fmla="val 79999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92931"/>
            <a:ext cx="8636000" cy="2896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معماری و روش مدل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" y="910047"/>
            <a:ext cx="83439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مدل‌سازی گراف + Mutual Information + Bi-level Optimization</a:t>
            </a:r>
            <a:endParaRPr lang="en-US" sz="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3342" y="1174366"/>
            <a:ext cx="4510608" cy="35690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36913" y="1177937"/>
            <a:ext cx="4503465" cy="3561941"/>
          </a:xfrm>
          <a:prstGeom prst="roundRect">
            <a:avLst>
              <a:gd name="adj" fmla="val 3744"/>
            </a:avLst>
          </a:prstGeom>
          <a:noFill/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504085" y="1268877"/>
            <a:ext cx="1155569" cy="236030"/>
          </a:xfrm>
          <a:prstGeom prst="roundRect">
            <a:avLst>
              <a:gd name="adj" fmla="val 24213"/>
            </a:avLst>
          </a:prstGeom>
          <a:solidFill>
            <a:srgbClr val="FFFFFF"/>
          </a:solidFill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7598383" y="1337779"/>
            <a:ext cx="346025" cy="91440"/>
          </a:xfrm>
          <a:prstGeom prst="rect">
            <a:avLst/>
          </a:prstGeom>
          <a:noFill/>
          <a:ln/>
        </p:spPr>
        <p:txBody>
          <a:bodyPr wrap="none" lIns="64294" tIns="28575" rIns="64294" bIns="28575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FIGURE 3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987271" y="1317241"/>
            <a:ext cx="578086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✿</a:t>
            </a:r>
            <a:endParaRPr lang="en-US" sz="914" dirty="0"/>
          </a:p>
        </p:txBody>
      </p:sp>
      <p:pic>
        <p:nvPicPr>
          <p:cNvPr id="12" name="Image 1" descr="/tmp/h2p-fit-1781813885443-hzqb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0498" y="2092003"/>
            <a:ext cx="4296296" cy="18213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40498" y="4513064"/>
            <a:ext cx="4406024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i="1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شکل ۳ — معماری کامل مدل STEPS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2233826" y="1210084"/>
            <a:ext cx="775256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84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اجزای معماری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066231" y="1174366"/>
            <a:ext cx="102423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055" dirty="0"/>
          </a:p>
        </p:txBody>
      </p:sp>
      <p:sp>
        <p:nvSpPr>
          <p:cNvPr id="16" name="Text 12"/>
          <p:cNvSpPr/>
          <p:nvPr/>
        </p:nvSpPr>
        <p:spPr>
          <a:xfrm>
            <a:off x="403622" y="1460116"/>
            <a:ext cx="3683273" cy="449275"/>
          </a:xfrm>
          <a:prstGeom prst="roundRect">
            <a:avLst>
              <a:gd name="adj" fmla="val 23321"/>
            </a:avLst>
          </a:prstGeom>
          <a:solidFill>
            <a:srgbClr val="F4F7FB"/>
          </a:solidFill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500063" y="1520837"/>
            <a:ext cx="9286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56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۰۱</a:t>
            </a:r>
            <a:endParaRPr lang="en-US" sz="8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7567" y="1542269"/>
            <a:ext cx="242888" cy="2428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770605" y="1565307"/>
            <a:ext cx="196810" cy="196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336" dirty="0"/>
          </a:p>
        </p:txBody>
      </p:sp>
      <p:sp>
        <p:nvSpPr>
          <p:cNvPr id="20" name="Text 15"/>
          <p:cNvSpPr/>
          <p:nvPr/>
        </p:nvSpPr>
        <p:spPr>
          <a:xfrm>
            <a:off x="1928885" y="1542269"/>
            <a:ext cx="1740100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مدل‌سازی گراف پروتئین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1879168" y="1695859"/>
            <a:ext cx="1789817" cy="131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نودها: residueها؛ یال: فاصله کمتر از 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7Å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403622" y="1980828"/>
            <a:ext cx="3683273" cy="449275"/>
          </a:xfrm>
          <a:prstGeom prst="roundRect">
            <a:avLst>
              <a:gd name="adj" fmla="val 23321"/>
            </a:avLst>
          </a:prstGeom>
          <a:solidFill>
            <a:srgbClr val="F4F7FB"/>
          </a:solidFill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500063" y="2041550"/>
            <a:ext cx="9286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56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۰۲</a:t>
            </a:r>
            <a:endParaRPr lang="en-US" sz="8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7567" y="2062981"/>
            <a:ext cx="242888" cy="2428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3770605" y="2086020"/>
            <a:ext cx="196810" cy="196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336" dirty="0"/>
          </a:p>
        </p:txBody>
      </p:sp>
      <p:sp>
        <p:nvSpPr>
          <p:cNvPr id="26" name="Text 20"/>
          <p:cNvSpPr/>
          <p:nvPr/>
        </p:nvSpPr>
        <p:spPr>
          <a:xfrm>
            <a:off x="500063" y="2062981"/>
            <a:ext cx="3168923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ورودی چندوجهی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844637" y="2216572"/>
            <a:ext cx="2824349" cy="131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embedding توالی + ویژگی زاویه‌ای + edge feature (معکوس مجذور فاصله)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403622" y="2501540"/>
            <a:ext cx="3683273" cy="449275"/>
          </a:xfrm>
          <a:prstGeom prst="roundRect">
            <a:avLst>
              <a:gd name="adj" fmla="val 23321"/>
            </a:avLst>
          </a:prstGeom>
          <a:solidFill>
            <a:srgbClr val="F4F7FB"/>
          </a:solidFill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500063" y="2562262"/>
            <a:ext cx="9286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56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۰۳</a:t>
            </a:r>
            <a:endParaRPr lang="en-US" sz="8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7567" y="2583693"/>
            <a:ext cx="242888" cy="24288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770605" y="2606732"/>
            <a:ext cx="196810" cy="196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☎</a:t>
            </a:r>
            <a:endParaRPr lang="en-US" sz="1336" dirty="0"/>
          </a:p>
        </p:txBody>
      </p:sp>
      <p:sp>
        <p:nvSpPr>
          <p:cNvPr id="32" name="Text 25"/>
          <p:cNvSpPr/>
          <p:nvPr/>
        </p:nvSpPr>
        <p:spPr>
          <a:xfrm>
            <a:off x="1102298" y="2583693"/>
            <a:ext cx="2566687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دو head خروجی</a:t>
            </a:r>
            <a:endParaRPr lang="en-US" sz="800" dirty="0"/>
          </a:p>
        </p:txBody>
      </p:sp>
      <p:sp>
        <p:nvSpPr>
          <p:cNvPr id="33" name="Text 26"/>
          <p:cNvSpPr/>
          <p:nvPr/>
        </p:nvSpPr>
        <p:spPr>
          <a:xfrm>
            <a:off x="1478979" y="2737284"/>
            <a:ext cx="2190006" cy="131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Distance Head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(طبقه‌بندی) + 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Angle Head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(ممیزی زاویه)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403622" y="3022253"/>
            <a:ext cx="3683273" cy="580653"/>
          </a:xfrm>
          <a:prstGeom prst="roundRect">
            <a:avLst>
              <a:gd name="adj" fmla="val 18044"/>
            </a:avLst>
          </a:prstGeom>
          <a:solidFill>
            <a:srgbClr val="F4F7FB"/>
          </a:solidFill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28"/>
          <p:cNvSpPr/>
          <p:nvPr/>
        </p:nvSpPr>
        <p:spPr>
          <a:xfrm>
            <a:off x="500063" y="3082975"/>
            <a:ext cx="9286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56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۰۴</a:t>
            </a:r>
            <a:endParaRPr lang="en-US" sz="800" dirty="0"/>
          </a:p>
        </p:txBody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7567" y="3104406"/>
            <a:ext cx="242888" cy="24288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3770605" y="3127444"/>
            <a:ext cx="196810" cy="1968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336" dirty="0"/>
          </a:p>
        </p:txBody>
      </p:sp>
      <p:sp>
        <p:nvSpPr>
          <p:cNvPr id="38" name="Text 30"/>
          <p:cNvSpPr/>
          <p:nvPr/>
        </p:nvSpPr>
        <p:spPr>
          <a:xfrm>
            <a:off x="506637" y="3104406"/>
            <a:ext cx="3162348" cy="1261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هماهنگی PLM و GNN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657225" y="3257996"/>
            <a:ext cx="3011760" cy="2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Mutual Information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بین نمایش توالی و ساختار + 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Pseudo Bi-level Optimization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برای هماهنگی PLM و GNN</a:t>
            </a:r>
            <a:endParaRPr lang="en-US" sz="800" dirty="0"/>
          </a:p>
        </p:txBody>
      </p:sp>
      <p:sp>
        <p:nvSpPr>
          <p:cNvPr id="40" name="Shape 32"/>
          <p:cNvSpPr/>
          <p:nvPr/>
        </p:nvSpPr>
        <p:spPr>
          <a:xfrm>
            <a:off x="400050" y="4811316"/>
            <a:ext cx="8343900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7721985" y="4886325"/>
            <a:ext cx="102196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400050" y="4886325"/>
            <a:ext cx="17156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۴ / ۸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068" y="257175"/>
            <a:ext cx="76795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600"/>
              </a:lnSpc>
              <a:buNone/>
            </a:pPr>
            <a:r>
              <a:rPr lang="en-US" sz="3600" b="1" spc="-112" kern="0" dirty="0">
                <a:solidFill>
                  <a:srgbClr val="0B2545">
                    <a:alpha val="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9664" y="371475"/>
            <a:ext cx="6384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343900" y="442913"/>
            <a:ext cx="400050" cy="35719"/>
          </a:xfrm>
          <a:prstGeom prst="roundRect">
            <a:avLst>
              <a:gd name="adj" fmla="val 79999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92931"/>
            <a:ext cx="8636000" cy="2896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دو تسک اصلی مدل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" y="910047"/>
            <a:ext cx="83439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Distance + Angle — هرکدام جنبه‌ای از ساختار را رمزگذاری می‌کنند</a:t>
            </a:r>
            <a:endParaRPr lang="en-US" sz="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438" y="1174366"/>
            <a:ext cx="4100513" cy="302615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43438" y="1188653"/>
            <a:ext cx="4100513" cy="0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40378" y="1174366"/>
            <a:ext cx="0" cy="3026159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43438" y="4196953"/>
            <a:ext cx="4100513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47009" y="1174366"/>
            <a:ext cx="0" cy="3026159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1174366"/>
            <a:ext cx="4100513" cy="3026159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00050" y="1188653"/>
            <a:ext cx="4100513" cy="0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96991" y="1174366"/>
            <a:ext cx="0" cy="3026159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0050" y="4196953"/>
            <a:ext cx="4100513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03622" y="1174366"/>
            <a:ext cx="0" cy="3026159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4314825"/>
            <a:ext cx="8343900" cy="42862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58188" y="4400550"/>
            <a:ext cx="257175" cy="257175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8383191" y="4425553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406" dirty="0"/>
          </a:p>
        </p:txBody>
      </p:sp>
      <p:sp>
        <p:nvSpPr>
          <p:cNvPr id="20" name="Text 15"/>
          <p:cNvSpPr/>
          <p:nvPr/>
        </p:nvSpPr>
        <p:spPr>
          <a:xfrm>
            <a:off x="4912779" y="4439841"/>
            <a:ext cx="964406" cy="178594"/>
          </a:xfrm>
          <a:prstGeom prst="roundRect">
            <a:avLst>
              <a:gd name="adj" fmla="val 26667"/>
            </a:avLst>
          </a:prstGeom>
          <a:solidFill>
            <a:srgbClr val="0B2545">
              <a:alpha val="3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528638" y="4439841"/>
            <a:ext cx="772953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ترکیب این دو </a:t>
            </a:r>
            <a:pPr algn="r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Loss</a:t>
            </a:r>
            <a:pPr algn="r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، نمایش ساختاری غنی‌تر می‌دهد: </a:t>
            </a:r>
            <a:pPr algn="r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FFFFFF"/>
                </a:solidFill>
                <a:highlight>
                  <a:srgbClr val="0B2545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L_dis + L_ang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00050" y="4811316"/>
            <a:ext cx="8343900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721985" y="4886325"/>
            <a:ext cx="102196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400050" y="4886325"/>
            <a:ext cx="17156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۵ / ۸</a:t>
            </a:r>
            <a:endParaRPr lang="en-US" sz="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894" y="1404863"/>
            <a:ext cx="314325" cy="31432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326755" y="1437724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688" dirty="0"/>
          </a:p>
        </p:txBody>
      </p:sp>
      <p:sp>
        <p:nvSpPr>
          <p:cNvPr id="27" name="Text 21"/>
          <p:cNvSpPr/>
          <p:nvPr/>
        </p:nvSpPr>
        <p:spPr>
          <a:xfrm>
            <a:off x="7794903" y="1329671"/>
            <a:ext cx="429161" cy="168021"/>
          </a:xfrm>
          <a:prstGeom prst="roundRect">
            <a:avLst>
              <a:gd name="adj" fmla="val 22676"/>
            </a:avLst>
          </a:prstGeom>
          <a:solidFill>
            <a:srgbClr val="0E8F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7810798" y="1338672"/>
            <a:ext cx="397371" cy="150019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spc="45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TASK 1</a:t>
            </a:r>
            <a:endParaRPr lang="en-US" sz="800" dirty="0"/>
          </a:p>
        </p:txBody>
      </p:sp>
      <p:sp>
        <p:nvSpPr>
          <p:cNvPr id="29" name="Text 23"/>
          <p:cNvSpPr/>
          <p:nvPr/>
        </p:nvSpPr>
        <p:spPr>
          <a:xfrm>
            <a:off x="6624724" y="1517266"/>
            <a:ext cx="1583444" cy="1282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1013" b="1" spc="-11" kern="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Distance Prediction</a:t>
            </a:r>
            <a:endParaRPr lang="en-US" sz="1013" dirty="0"/>
          </a:p>
        </p:txBody>
      </p:sp>
      <p:sp>
        <p:nvSpPr>
          <p:cNvPr id="30" name="Text 24"/>
          <p:cNvSpPr/>
          <p:nvPr/>
        </p:nvSpPr>
        <p:spPr>
          <a:xfrm>
            <a:off x="6749022" y="1672977"/>
            <a:ext cx="145914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پیش‌بینی فاصله residue-residue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4779169" y="1878360"/>
            <a:ext cx="3829050" cy="2007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فاصله بین جفت residueها به binهای مساوی تقسیم می‌شود</a:t>
            </a:r>
            <a:endParaRPr lang="en-US" sz="800" dirty="0"/>
          </a:p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مدل باید کلاس درست bin را پیش‌بینی کند (طبقه‌بندی چندکلاسه)</a:t>
            </a:r>
            <a:endParaRPr lang="en-US" sz="800" dirty="0"/>
          </a:p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Loss: Cross-Entropy</a:t>
            </a:r>
            <a:endParaRPr lang="en-US" sz="800" dirty="0"/>
          </a:p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نقش: شکل کلی backbone و چینش فضایی پروتئین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4779169" y="3796903"/>
            <a:ext cx="3829050" cy="282178"/>
          </a:xfrm>
          <a:prstGeom prst="roundRect">
            <a:avLst>
              <a:gd name="adj" fmla="val 33755"/>
            </a:avLst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8138874" y="3887093"/>
            <a:ext cx="369332" cy="120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02"/>
              </a:lnSpc>
              <a:buNone/>
            </a:pPr>
            <a:r>
              <a:rPr lang="en-US" sz="800" b="1" spc="84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L_dis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4879181" y="3868341"/>
            <a:ext cx="359289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-11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CrossEntropy(d_ij_class, d̂_ij_class)</a:t>
            </a:r>
            <a:endParaRPr lang="en-US" sz="800" dirty="0"/>
          </a:p>
        </p:txBody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0506" y="1404863"/>
            <a:ext cx="314325" cy="314325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4083368" y="1437724"/>
            <a:ext cx="248602" cy="248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688" dirty="0"/>
          </a:p>
        </p:txBody>
      </p:sp>
      <p:sp>
        <p:nvSpPr>
          <p:cNvPr id="37" name="Text 30"/>
          <p:cNvSpPr/>
          <p:nvPr/>
        </p:nvSpPr>
        <p:spPr>
          <a:xfrm>
            <a:off x="3551515" y="1329671"/>
            <a:ext cx="429161" cy="168021"/>
          </a:xfrm>
          <a:prstGeom prst="roundRect">
            <a:avLst>
              <a:gd name="adj" fmla="val 22676"/>
            </a:avLst>
          </a:prstGeom>
          <a:solidFill>
            <a:srgbClr val="0E8F8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1"/>
          <p:cNvSpPr/>
          <p:nvPr/>
        </p:nvSpPr>
        <p:spPr>
          <a:xfrm>
            <a:off x="3567410" y="1338672"/>
            <a:ext cx="397371" cy="150019"/>
          </a:xfrm>
          <a:prstGeom prst="rect">
            <a:avLst/>
          </a:prstGeom>
          <a:noFill/>
          <a:ln/>
        </p:spPr>
        <p:txBody>
          <a:bodyPr wrap="none" lIns="57150" tIns="21431" rIns="57150" bIns="21431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spc="45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TASK 2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2266405" y="1517266"/>
            <a:ext cx="1698376" cy="1282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1013" b="1" spc="-11" kern="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Angle Prediction</a:t>
            </a:r>
            <a:endParaRPr lang="en-US" sz="1013" dirty="0"/>
          </a:p>
        </p:txBody>
      </p:sp>
      <p:sp>
        <p:nvSpPr>
          <p:cNvPr id="40" name="Text 33"/>
          <p:cNvSpPr/>
          <p:nvPr/>
        </p:nvSpPr>
        <p:spPr>
          <a:xfrm>
            <a:off x="2217880" y="1672977"/>
            <a:ext cx="174690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بازسازی زوایای دیهدرال ماسک‌شده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535781" y="1878360"/>
            <a:ext cx="3829050" cy="2007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بخشی از residueها mask می‌شوند و زوایای دیهدرال (φ, ψ) بازسازی می‌شوند</a:t>
            </a:r>
            <a:endParaRPr lang="en-US" sz="800" dirty="0"/>
          </a:p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مدل خمیدگی محلی backbone را یاد می‌گیرد</a:t>
            </a:r>
            <a:endParaRPr lang="en-US" sz="800" dirty="0"/>
          </a:p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Loss: MSE (Mean Squared Error)</a:t>
            </a:r>
            <a:endParaRPr lang="en-US" sz="800" dirty="0"/>
          </a:p>
          <a:p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60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●  </a:t>
            </a:r>
            <a:pPr algn="r" indent="0" marL="0">
              <a:lnSpc>
                <a:spcPts val="1160"/>
              </a:lnSpc>
              <a:spcAft>
                <a:spcPts val="394"/>
              </a:spcAft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نقش: ریزساختار فضایی و هم‌پیچیدگی محلی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535781" y="3796903"/>
            <a:ext cx="3829050" cy="282178"/>
          </a:xfrm>
          <a:prstGeom prst="roundRect">
            <a:avLst>
              <a:gd name="adj" fmla="val 33755"/>
            </a:avLst>
          </a:prstGeom>
          <a:solidFill>
            <a:srgbClr val="0B254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6"/>
          <p:cNvSpPr/>
          <p:nvPr/>
        </p:nvSpPr>
        <p:spPr>
          <a:xfrm>
            <a:off x="3859232" y="3887093"/>
            <a:ext cx="405586" cy="120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802"/>
              </a:lnSpc>
              <a:buNone/>
            </a:pPr>
            <a:r>
              <a:rPr lang="en-US" sz="800" b="1" spc="84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L_ang</a:t>
            </a:r>
            <a:endParaRPr lang="en-US" sz="800" dirty="0"/>
          </a:p>
        </p:txBody>
      </p:sp>
      <p:sp>
        <p:nvSpPr>
          <p:cNvPr id="44" name="Text 37"/>
          <p:cNvSpPr/>
          <p:nvPr/>
        </p:nvSpPr>
        <p:spPr>
          <a:xfrm>
            <a:off x="635794" y="3868341"/>
            <a:ext cx="3568424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-11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Σ (φ_i − φ̂_i)² + (ψ_i − ψ̂_i)²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068" y="257175"/>
            <a:ext cx="76795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600"/>
              </a:lnSpc>
              <a:buNone/>
            </a:pPr>
            <a:r>
              <a:rPr lang="en-US" sz="3600" b="1" spc="-112" kern="0" dirty="0">
                <a:solidFill>
                  <a:srgbClr val="0B2545">
                    <a:alpha val="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9664" y="371475"/>
            <a:ext cx="6384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343900" y="442913"/>
            <a:ext cx="400050" cy="35719"/>
          </a:xfrm>
          <a:prstGeom prst="roundRect">
            <a:avLst>
              <a:gd name="adj" fmla="val 79999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92931"/>
            <a:ext cx="8636000" cy="2654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025"/>
              </a:lnSpc>
              <a:buNone/>
            </a:pPr>
            <a:r>
              <a:rPr lang="en-US" sz="1688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مقایسه و مزیت‌ها</a:t>
            </a:r>
            <a:endParaRPr lang="en-US" sz="1688" dirty="0"/>
          </a:p>
        </p:txBody>
      </p:sp>
      <p:sp>
        <p:nvSpPr>
          <p:cNvPr id="6" name="Text 4"/>
          <p:cNvSpPr/>
          <p:nvPr/>
        </p:nvSpPr>
        <p:spPr>
          <a:xfrm>
            <a:off x="400050" y="885825"/>
            <a:ext cx="83439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برتری چشمگیر STEPS بر baseline‌های sequence-only و structure-only</a:t>
            </a:r>
            <a:endParaRPr lang="en-US" sz="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9837" y="1116211"/>
            <a:ext cx="2724113" cy="883593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888" y="1116211"/>
            <a:ext cx="2724224" cy="883593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1116211"/>
            <a:ext cx="2724113" cy="88359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06669" y="2115889"/>
            <a:ext cx="1889754" cy="119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84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مقایسه روش‌ها — دقت (٪) بر سه benchmark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8053574" y="2085529"/>
            <a:ext cx="69037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984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0050" y="2278410"/>
          <a:ext cx="8343900" cy="914400"/>
        </p:xfrm>
        <a:graphic>
          <a:graphicData uri="http://schemas.openxmlformats.org/drawingml/2006/table">
            <a:tbl>
              <a:tblPr/>
              <a:tblGrid>
                <a:gridCol w="3165239"/>
                <a:gridCol w="1721421"/>
                <a:gridCol w="1721421"/>
                <a:gridCol w="1721532"/>
              </a:tblGrid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روش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C2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C10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C384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Pre-LM (sequence-only)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58.00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35.00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1.32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DeepFRI (structure+LM)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88.38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69.23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15.72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STEPS-w/oLM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77.82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42.51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3.89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STEPS این کار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8F8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89.61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8F8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71.05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8F8F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65.38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50006" marR="71438" marT="71438" marB="50006" anchor="ctr">
                    <a:lnL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144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6019837" y="3537496"/>
            <a:ext cx="2724113" cy="397371"/>
          </a:xfrm>
          <a:prstGeom prst="roundRect">
            <a:avLst>
              <a:gd name="adj" fmla="val 1917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8"/>
          <p:cNvSpPr/>
          <p:nvPr/>
        </p:nvSpPr>
        <p:spPr>
          <a:xfrm>
            <a:off x="6019837" y="3541068"/>
            <a:ext cx="2724113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733234" y="3537496"/>
            <a:ext cx="0" cy="397371"/>
          </a:xfrm>
          <a:prstGeom prst="line">
            <a:avLst/>
          </a:prstGeom>
          <a:noFill/>
          <a:ln w="21431">
            <a:solidFill>
              <a:srgbClr val="13C2C2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019837" y="3931295"/>
            <a:ext cx="2724113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023409" y="3537496"/>
            <a:ext cx="0" cy="39737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8268333" y="3623221"/>
            <a:ext cx="36846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19" name="Text 13"/>
          <p:cNvSpPr/>
          <p:nvPr/>
        </p:nvSpPr>
        <p:spPr>
          <a:xfrm>
            <a:off x="6112706" y="3608933"/>
            <a:ext cx="2098477" cy="254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از هر دو گروه </a:t>
            </a:r>
            <a:pPr algn="r" indent="0" marL="0">
              <a:lnSpc>
                <a:spcPts val="1003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sequence-only</a:t>
            </a:r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و </a:t>
            </a:r>
            <a:pPr algn="r" indent="0" marL="0">
              <a:lnSpc>
                <a:spcPts val="1003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structure-only</a:t>
            </a:r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بهتر عمل می‌کند</a:t>
            </a:r>
            <a:endParaRPr lang="en-US" sz="800" dirty="0"/>
          </a:p>
        </p:txBody>
      </p:sp>
      <p:sp>
        <p:nvSpPr>
          <p:cNvPr id="20" name="Text 14"/>
          <p:cNvSpPr/>
          <p:nvPr/>
        </p:nvSpPr>
        <p:spPr>
          <a:xfrm>
            <a:off x="3209888" y="3537496"/>
            <a:ext cx="2724224" cy="397371"/>
          </a:xfrm>
          <a:prstGeom prst="roundRect">
            <a:avLst>
              <a:gd name="adj" fmla="val 1917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5"/>
          <p:cNvSpPr/>
          <p:nvPr/>
        </p:nvSpPr>
        <p:spPr>
          <a:xfrm>
            <a:off x="3209888" y="3541068"/>
            <a:ext cx="2724224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923397" y="3537496"/>
            <a:ext cx="0" cy="397371"/>
          </a:xfrm>
          <a:prstGeom prst="line">
            <a:avLst/>
          </a:prstGeom>
          <a:noFill/>
          <a:ln w="21431">
            <a:solidFill>
              <a:srgbClr val="13C2C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3209888" y="3931295"/>
            <a:ext cx="2724224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213460" y="3537496"/>
            <a:ext cx="0" cy="39737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223197" y="3623221"/>
            <a:ext cx="60375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125" dirty="0"/>
          </a:p>
        </p:txBody>
      </p:sp>
      <p:sp>
        <p:nvSpPr>
          <p:cNvPr id="26" name="Text 20"/>
          <p:cNvSpPr/>
          <p:nvPr/>
        </p:nvSpPr>
        <p:spPr>
          <a:xfrm>
            <a:off x="3302757" y="3608933"/>
            <a:ext cx="1863291" cy="254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برتری چشمگیر در </a:t>
            </a:r>
            <a:pPr algn="r" indent="0" marL="0">
              <a:lnSpc>
                <a:spcPts val="1003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C384</a:t>
            </a:r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(واکنش آنزیمی) — ساختار، سایت‌های اتصال را تعیین می‌کند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00050" y="3537496"/>
            <a:ext cx="2724113" cy="397371"/>
          </a:xfrm>
          <a:prstGeom prst="roundRect">
            <a:avLst>
              <a:gd name="adj" fmla="val 1917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2"/>
          <p:cNvSpPr/>
          <p:nvPr/>
        </p:nvSpPr>
        <p:spPr>
          <a:xfrm>
            <a:off x="400050" y="3541068"/>
            <a:ext cx="2724113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3113447" y="3537496"/>
            <a:ext cx="0" cy="397371"/>
          </a:xfrm>
          <a:prstGeom prst="line">
            <a:avLst/>
          </a:prstGeom>
          <a:noFill/>
          <a:ln w="21431">
            <a:solidFill>
              <a:srgbClr val="13C2C2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00050" y="3931295"/>
            <a:ext cx="2724113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403622" y="3537496"/>
            <a:ext cx="0" cy="39737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616733" y="3623221"/>
            <a:ext cx="40027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125" dirty="0"/>
          </a:p>
        </p:txBody>
      </p:sp>
      <p:sp>
        <p:nvSpPr>
          <p:cNvPr id="33" name="Text 27"/>
          <p:cNvSpPr/>
          <p:nvPr/>
        </p:nvSpPr>
        <p:spPr>
          <a:xfrm>
            <a:off x="720822" y="3608933"/>
            <a:ext cx="1838761" cy="169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حذف هر تسک، </a:t>
            </a:r>
            <a:pPr algn="r" indent="0" marL="0">
              <a:lnSpc>
                <a:spcPts val="1003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</a:t>
            </a:r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یا </a:t>
            </a:r>
            <a:pPr algn="r" indent="0" marL="0">
              <a:lnSpc>
                <a:spcPts val="1003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PLM</a:t>
            </a:r>
            <a:pPr algn="r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→ افت شدید کیفیت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400050" y="4811316"/>
            <a:ext cx="8343900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721985" y="4886325"/>
            <a:ext cx="102196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400050" y="4886325"/>
            <a:ext cx="17156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۶ / ۸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6134137" y="1201936"/>
            <a:ext cx="2495513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844"/>
              </a:lnSpc>
              <a:buNone/>
            </a:pPr>
            <a:r>
              <a:rPr lang="en-US" sz="800" b="1" spc="84" kern="0" dirty="0">
                <a:solidFill>
                  <a:srgbClr val="13C2C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C2 BENCHMARK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6134137" y="1337667"/>
            <a:ext cx="2495513" cy="2868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138"/>
              </a:lnSpc>
              <a:buNone/>
            </a:pPr>
            <a:r>
              <a:rPr lang="en-US" sz="2138" b="1" spc="-56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۸۹.۶۱</a:t>
            </a:r>
            <a:pPr algn="r" indent="0" marL="0">
              <a:lnSpc>
                <a:spcPts val="2138"/>
              </a:lnSpc>
              <a:buNone/>
            </a:pPr>
            <a:r>
              <a:rPr lang="en-US" sz="1688" b="1" spc="-56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٪</a:t>
            </a:r>
            <a:endParaRPr lang="en-US" sz="2138" dirty="0"/>
          </a:p>
        </p:txBody>
      </p:sp>
      <p:sp>
        <p:nvSpPr>
          <p:cNvPr id="39" name="Text 33"/>
          <p:cNvSpPr/>
          <p:nvPr/>
        </p:nvSpPr>
        <p:spPr>
          <a:xfrm>
            <a:off x="6134137" y="1651992"/>
            <a:ext cx="2495513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دقت در </a:t>
            </a:r>
            <a:pPr algn="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C2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6134137" y="1809155"/>
            <a:ext cx="2495513" cy="10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B8C7D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membrane/non-membrane classification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3324188" y="1201936"/>
            <a:ext cx="2495624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844"/>
              </a:lnSpc>
              <a:buNone/>
            </a:pPr>
            <a:r>
              <a:rPr lang="en-US" sz="800" b="1" spc="84" kern="0" dirty="0">
                <a:solidFill>
                  <a:srgbClr val="13C2C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C10 BENCHMARK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3324188" y="1337667"/>
            <a:ext cx="2495624" cy="2868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138"/>
              </a:lnSpc>
              <a:buNone/>
            </a:pPr>
            <a:r>
              <a:rPr lang="en-US" sz="2138" b="1" spc="-56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۷۱.۰۵</a:t>
            </a:r>
            <a:pPr algn="r" indent="0" marL="0">
              <a:lnSpc>
                <a:spcPts val="2138"/>
              </a:lnSpc>
              <a:buNone/>
            </a:pPr>
            <a:r>
              <a:rPr lang="en-US" sz="1688" b="1" spc="-56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٪</a:t>
            </a:r>
            <a:endParaRPr lang="en-US" sz="2138" dirty="0"/>
          </a:p>
        </p:txBody>
      </p:sp>
      <p:sp>
        <p:nvSpPr>
          <p:cNvPr id="43" name="Text 37"/>
          <p:cNvSpPr/>
          <p:nvPr/>
        </p:nvSpPr>
        <p:spPr>
          <a:xfrm>
            <a:off x="3324188" y="1651992"/>
            <a:ext cx="2495624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دقت در </a:t>
            </a:r>
            <a:pPr algn="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C10</a:t>
            </a:r>
            <a:endParaRPr lang="en-US" sz="800" dirty="0"/>
          </a:p>
        </p:txBody>
      </p:sp>
      <p:sp>
        <p:nvSpPr>
          <p:cNvPr id="44" name="Text 38"/>
          <p:cNvSpPr/>
          <p:nvPr/>
        </p:nvSpPr>
        <p:spPr>
          <a:xfrm>
            <a:off x="3324188" y="1809155"/>
            <a:ext cx="2495624" cy="10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B8C7D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cellular compartment prediction</a:t>
            </a:r>
            <a:endParaRPr lang="en-US" sz="800" dirty="0"/>
          </a:p>
        </p:txBody>
      </p:sp>
      <p:sp>
        <p:nvSpPr>
          <p:cNvPr id="45" name="Text 39"/>
          <p:cNvSpPr/>
          <p:nvPr/>
        </p:nvSpPr>
        <p:spPr>
          <a:xfrm>
            <a:off x="514350" y="1201936"/>
            <a:ext cx="2495513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844"/>
              </a:lnSpc>
              <a:buNone/>
            </a:pPr>
            <a:r>
              <a:rPr lang="en-US" sz="800" b="1" spc="84" kern="0" dirty="0">
                <a:solidFill>
                  <a:srgbClr val="13C2C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C384 BENCHMARK</a:t>
            </a:r>
            <a:endParaRPr lang="en-US" sz="800" dirty="0"/>
          </a:p>
        </p:txBody>
      </p:sp>
      <p:sp>
        <p:nvSpPr>
          <p:cNvPr id="46" name="Text 40"/>
          <p:cNvSpPr/>
          <p:nvPr/>
        </p:nvSpPr>
        <p:spPr>
          <a:xfrm>
            <a:off x="514350" y="1337667"/>
            <a:ext cx="2495513" cy="2868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138"/>
              </a:lnSpc>
              <a:buNone/>
            </a:pPr>
            <a:r>
              <a:rPr lang="en-US" sz="2138" b="1" spc="-56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۶۵.۳۸</a:t>
            </a:r>
            <a:pPr algn="r" indent="0" marL="0">
              <a:lnSpc>
                <a:spcPts val="2138"/>
              </a:lnSpc>
              <a:buNone/>
            </a:pPr>
            <a:r>
              <a:rPr lang="en-US" sz="1688" b="1" spc="-56" kern="0" dirty="0">
                <a:solidFill>
                  <a:srgbClr val="13C2C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٪</a:t>
            </a:r>
            <a:endParaRPr lang="en-US" sz="2138" dirty="0"/>
          </a:p>
        </p:txBody>
      </p:sp>
      <p:sp>
        <p:nvSpPr>
          <p:cNvPr id="47" name="Text 41"/>
          <p:cNvSpPr/>
          <p:nvPr/>
        </p:nvSpPr>
        <p:spPr>
          <a:xfrm>
            <a:off x="514350" y="1651992"/>
            <a:ext cx="2495513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دقت در </a:t>
            </a:r>
            <a:pPr algn="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C384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514350" y="1809155"/>
            <a:ext cx="2495513" cy="10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27"/>
              </a:lnSpc>
              <a:buNone/>
            </a:pPr>
            <a:r>
              <a:rPr lang="en-US" sz="800" dirty="0">
                <a:solidFill>
                  <a:srgbClr val="B8C7D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enzyme class (۳۶٪ بهبود نسبت به baseline)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068" y="257175"/>
            <a:ext cx="76795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600"/>
              </a:lnSpc>
              <a:buNone/>
            </a:pPr>
            <a:r>
              <a:rPr lang="en-US" sz="3600" b="1" spc="-112" kern="0" dirty="0">
                <a:solidFill>
                  <a:srgbClr val="0B2545">
                    <a:alpha val="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9664" y="371475"/>
            <a:ext cx="6384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343900" y="442913"/>
            <a:ext cx="400050" cy="35719"/>
          </a:xfrm>
          <a:prstGeom prst="roundRect">
            <a:avLst>
              <a:gd name="adj" fmla="val 79999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592931"/>
            <a:ext cx="8636000" cy="2654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025"/>
              </a:lnSpc>
              <a:buNone/>
            </a:pPr>
            <a:r>
              <a:rPr lang="en-US" sz="1688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چالش‌ها و محدودیت‌ها</a:t>
            </a:r>
            <a:endParaRPr lang="en-US" sz="1688" dirty="0"/>
          </a:p>
        </p:txBody>
      </p:sp>
      <p:sp>
        <p:nvSpPr>
          <p:cNvPr id="6" name="Text 4"/>
          <p:cNvSpPr/>
          <p:nvPr/>
        </p:nvSpPr>
        <p:spPr>
          <a:xfrm>
            <a:off x="0" y="885825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محدودیت‌های داده، هماهنگی و حساسیت به حذف اجزا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990093" y="1146572"/>
            <a:ext cx="940474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84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چهار چالش کلیدی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987717" y="1116211"/>
            <a:ext cx="75623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⊗</a:t>
            </a:r>
            <a:endParaRPr lang="en-US" sz="984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3342" y="1373386"/>
            <a:ext cx="4510608" cy="586011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233342" y="1376958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29663" y="1373386"/>
            <a:ext cx="0" cy="586011"/>
          </a:xfrm>
          <a:prstGeom prst="line">
            <a:avLst/>
          </a:prstGeom>
          <a:noFill/>
          <a:ln w="28575">
            <a:solidFill>
              <a:srgbClr val="C039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33342" y="1955825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36913" y="1373386"/>
            <a:ext cx="0" cy="58601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93906" y="1451967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F6DE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414980" y="1473041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C0392B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◐</a:t>
            </a:r>
            <a:endParaRPr lang="en-US" sz="1266" dirty="0"/>
          </a:p>
        </p:txBody>
      </p:sp>
      <p:sp>
        <p:nvSpPr>
          <p:cNvPr id="16" name="Text 13"/>
          <p:cNvSpPr/>
          <p:nvPr/>
        </p:nvSpPr>
        <p:spPr>
          <a:xfrm>
            <a:off x="8143875" y="1459111"/>
            <a:ext cx="171450" cy="130373"/>
          </a:xfrm>
          <a:prstGeom prst="roundRect">
            <a:avLst>
              <a:gd name="adj" fmla="val 2922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493083" y="1466255"/>
            <a:ext cx="1600786" cy="121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کمبود داده ساختاری معتبر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132902" y="1451289"/>
            <a:ext cx="193396" cy="146018"/>
          </a:xfrm>
          <a:prstGeom prst="roundRect">
            <a:avLst>
              <a:gd name="adj" fmla="val 26093"/>
            </a:avLst>
          </a:prstGeom>
          <a:solidFill>
            <a:srgbClr val="FFFFFF"/>
          </a:solidFill>
          <a:ln w="7144">
            <a:solidFill>
              <a:srgbClr val="C0392B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8143875" y="1459111"/>
            <a:ext cx="171450" cy="130373"/>
          </a:xfrm>
          <a:prstGeom prst="rect">
            <a:avLst/>
          </a:prstGeom>
          <a:noFill/>
          <a:ln/>
        </p:spPr>
        <p:txBody>
          <a:bodyPr wrap="none" lIns="35719" tIns="7144" rIns="35719" bIns="7144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b="1" spc="28" kern="0" dirty="0">
                <a:solidFill>
                  <a:srgbClr val="C0392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۰۱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4333354" y="1618059"/>
            <a:ext cx="3981971" cy="2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تعداد پروتئین‌های دارای ساختار معتبر (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PDB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/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AlphaFold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) بسیار کمتر از توالی‌های موجود است — گلوگاه اصلی یادگیری ساختاری.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233342" y="2016547"/>
            <a:ext cx="4510608" cy="586011"/>
          </a:xfrm>
          <a:prstGeom prst="roundRect">
            <a:avLst>
              <a:gd name="adj" fmla="val 16254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4233342" y="2020119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29663" y="2016547"/>
            <a:ext cx="0" cy="586011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33342" y="2598986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36913" y="2016547"/>
            <a:ext cx="0" cy="58601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93906" y="2095128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8414980" y="2116202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266" dirty="0"/>
          </a:p>
        </p:txBody>
      </p:sp>
      <p:sp>
        <p:nvSpPr>
          <p:cNvPr id="28" name="Text 25"/>
          <p:cNvSpPr/>
          <p:nvPr/>
        </p:nvSpPr>
        <p:spPr>
          <a:xfrm>
            <a:off x="8143875" y="2102272"/>
            <a:ext cx="171450" cy="130373"/>
          </a:xfrm>
          <a:prstGeom prst="roundRect">
            <a:avLst>
              <a:gd name="adj" fmla="val 2922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877060" y="2109415"/>
            <a:ext cx="2216808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نیاز به هماهنگی دقیق sequence و structure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8132902" y="2094449"/>
            <a:ext cx="193396" cy="146018"/>
          </a:xfrm>
          <a:prstGeom prst="roundRect">
            <a:avLst>
              <a:gd name="adj" fmla="val 26093"/>
            </a:avLst>
          </a:prstGeom>
          <a:solidFill>
            <a:srgbClr val="FFFFFF"/>
          </a:solidFill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8143875" y="2102272"/>
            <a:ext cx="171450" cy="130373"/>
          </a:xfrm>
          <a:prstGeom prst="rect">
            <a:avLst/>
          </a:prstGeom>
          <a:noFill/>
          <a:ln/>
        </p:spPr>
        <p:txBody>
          <a:bodyPr wrap="none" lIns="35719" tIns="7144" rIns="35719" bIns="7144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b="1" spc="28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۰۲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333354" y="2261220"/>
            <a:ext cx="3981971" cy="2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ترازسازی دقیق بین توالی و ساختار برای هر 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residue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ضروری است؛ خطای 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alignment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به افت کیفیت منجر می‌شود.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233342" y="2659707"/>
            <a:ext cx="4510608" cy="586011"/>
          </a:xfrm>
          <a:prstGeom prst="roundRect">
            <a:avLst>
              <a:gd name="adj" fmla="val 16254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1"/>
          <p:cNvSpPr/>
          <p:nvPr/>
        </p:nvSpPr>
        <p:spPr>
          <a:xfrm>
            <a:off x="4233342" y="2663279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29663" y="2659707"/>
            <a:ext cx="0" cy="586011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233342" y="3242146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236913" y="2659707"/>
            <a:ext cx="0" cy="58601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93906" y="2738289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8414980" y="275936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266" dirty="0"/>
          </a:p>
        </p:txBody>
      </p:sp>
      <p:sp>
        <p:nvSpPr>
          <p:cNvPr id="40" name="Text 37"/>
          <p:cNvSpPr/>
          <p:nvPr/>
        </p:nvSpPr>
        <p:spPr>
          <a:xfrm>
            <a:off x="8143875" y="2745432"/>
            <a:ext cx="171450" cy="130373"/>
          </a:xfrm>
          <a:prstGeom prst="roundRect">
            <a:avLst>
              <a:gd name="adj" fmla="val 2922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8"/>
          <p:cNvSpPr/>
          <p:nvPr/>
        </p:nvSpPr>
        <p:spPr>
          <a:xfrm>
            <a:off x="6635958" y="2752576"/>
            <a:ext cx="1457911" cy="121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حساسیت به کیفیت ساختار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8132902" y="2737610"/>
            <a:ext cx="193396" cy="146018"/>
          </a:xfrm>
          <a:prstGeom prst="roundRect">
            <a:avLst>
              <a:gd name="adj" fmla="val 26093"/>
            </a:avLst>
          </a:prstGeom>
          <a:solidFill>
            <a:srgbClr val="FFFFFF"/>
          </a:solidFill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8143875" y="2745432"/>
            <a:ext cx="171450" cy="130373"/>
          </a:xfrm>
          <a:prstGeom prst="rect">
            <a:avLst/>
          </a:prstGeom>
          <a:noFill/>
          <a:ln/>
        </p:spPr>
        <p:txBody>
          <a:bodyPr wrap="none" lIns="35719" tIns="7144" rIns="35719" bIns="7144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b="1" spc="28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۰۳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4333354" y="2904381"/>
            <a:ext cx="3981971" cy="2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اگر ساختار معتبر نباشد یا ترکیب 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sequence-structure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درست انجام نشود، عملکرد مدل به شدت افت می‌کند.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4233342" y="3302868"/>
            <a:ext cx="4510608" cy="586011"/>
          </a:xfrm>
          <a:prstGeom prst="roundRect">
            <a:avLst>
              <a:gd name="adj" fmla="val 16254"/>
            </a:avLst>
          </a:prstGeom>
          <a:solidFill>
            <a:srgbClr val="F4F7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3"/>
          <p:cNvSpPr/>
          <p:nvPr/>
        </p:nvSpPr>
        <p:spPr>
          <a:xfrm>
            <a:off x="4233342" y="3306440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729663" y="3302868"/>
            <a:ext cx="0" cy="586011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33342" y="3885307"/>
            <a:ext cx="4510608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236913" y="3302868"/>
            <a:ext cx="0" cy="58601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393906" y="3381449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8"/>
          <p:cNvSpPr/>
          <p:nvPr/>
        </p:nvSpPr>
        <p:spPr>
          <a:xfrm>
            <a:off x="8414980" y="3402523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⊖</a:t>
            </a:r>
            <a:endParaRPr lang="en-US" sz="1266" dirty="0"/>
          </a:p>
        </p:txBody>
      </p:sp>
      <p:sp>
        <p:nvSpPr>
          <p:cNvPr id="52" name="Text 49"/>
          <p:cNvSpPr/>
          <p:nvPr/>
        </p:nvSpPr>
        <p:spPr>
          <a:xfrm>
            <a:off x="8143875" y="3388593"/>
            <a:ext cx="171450" cy="130373"/>
          </a:xfrm>
          <a:prstGeom prst="roundRect">
            <a:avLst>
              <a:gd name="adj" fmla="val 2922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0"/>
          <p:cNvSpPr/>
          <p:nvPr/>
        </p:nvSpPr>
        <p:spPr>
          <a:xfrm>
            <a:off x="6734184" y="3395737"/>
            <a:ext cx="1359684" cy="121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حذف هر جزء → افت شدید</a:t>
            </a:r>
            <a:endParaRPr lang="en-US" sz="800" dirty="0"/>
          </a:p>
        </p:txBody>
      </p:sp>
      <p:sp>
        <p:nvSpPr>
          <p:cNvPr id="54" name="Text 51"/>
          <p:cNvSpPr/>
          <p:nvPr/>
        </p:nvSpPr>
        <p:spPr>
          <a:xfrm>
            <a:off x="8132902" y="3380771"/>
            <a:ext cx="193396" cy="146018"/>
          </a:xfrm>
          <a:prstGeom prst="roundRect">
            <a:avLst>
              <a:gd name="adj" fmla="val 26093"/>
            </a:avLst>
          </a:prstGeom>
          <a:solidFill>
            <a:srgbClr val="FFFFFF"/>
          </a:solidFill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2"/>
          <p:cNvSpPr/>
          <p:nvPr/>
        </p:nvSpPr>
        <p:spPr>
          <a:xfrm>
            <a:off x="8143875" y="3388593"/>
            <a:ext cx="171450" cy="130373"/>
          </a:xfrm>
          <a:prstGeom prst="rect">
            <a:avLst/>
          </a:prstGeom>
          <a:noFill/>
          <a:ln/>
        </p:spPr>
        <p:txBody>
          <a:bodyPr wrap="none" lIns="35719" tIns="7144" rIns="35719" bIns="7144" rtlCol="0" anchor="ctr"/>
          <a:lstStyle/>
          <a:p>
            <a:pPr algn="ctr" indent="0" marL="0">
              <a:lnSpc>
                <a:spcPts val="802"/>
              </a:lnSpc>
              <a:buNone/>
            </a:pPr>
            <a:r>
              <a:rPr lang="en-US" sz="800" b="1" spc="28" kern="0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۰۴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4333354" y="3547542"/>
            <a:ext cx="3981971" cy="2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حذف یکی از اجزا (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distance task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/ 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angle task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/ 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mutual information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/ </a:t>
            </a:r>
            <a:pPr algn="r" indent="0" marL="0">
              <a:lnSpc>
                <a:spcPts val="1035"/>
              </a:lnSpc>
              <a:buNone/>
            </a:pPr>
            <a:r>
              <a:rPr lang="en-US" sz="800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PLM</a:t>
            </a:r>
            <a:pPr algn="r" indent="0" marL="0">
              <a:lnSpc>
                <a:spcPts val="1035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) باعث افت قابل توجه دقت می‌شود — طراحی به هم پیوسته است.</a:t>
            </a:r>
            <a:endParaRPr lang="en-US" sz="800" dirty="0"/>
          </a:p>
        </p:txBody>
      </p:sp>
      <p:pic>
        <p:nvPicPr>
          <p:cNvPr id="5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1116211"/>
            <a:ext cx="3690417" cy="3627239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403622" y="1119783"/>
            <a:ext cx="3683273" cy="3620095"/>
          </a:xfrm>
          <a:prstGeom prst="roundRect">
            <a:avLst>
              <a:gd name="adj" fmla="val 3684"/>
            </a:avLst>
          </a:prstGeom>
          <a:noFill/>
          <a:ln w="7144">
            <a:solidFill>
              <a:srgbClr val="D7DEE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5"/>
          <p:cNvSpPr/>
          <p:nvPr/>
        </p:nvSpPr>
        <p:spPr>
          <a:xfrm>
            <a:off x="3019708" y="1196435"/>
            <a:ext cx="1000750" cy="236030"/>
          </a:xfrm>
          <a:prstGeom prst="roundRect">
            <a:avLst>
              <a:gd name="adj" fmla="val 24213"/>
            </a:avLst>
          </a:prstGeom>
          <a:solidFill>
            <a:srgbClr val="FFFFFF"/>
          </a:solidFill>
          <a:ln w="7144">
            <a:solidFill>
              <a:srgbClr val="13C2C2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6"/>
          <p:cNvSpPr/>
          <p:nvPr/>
        </p:nvSpPr>
        <p:spPr>
          <a:xfrm>
            <a:off x="3114005" y="1265337"/>
            <a:ext cx="346025" cy="91440"/>
          </a:xfrm>
          <a:prstGeom prst="rect">
            <a:avLst/>
          </a:prstGeom>
          <a:noFill/>
          <a:ln/>
        </p:spPr>
        <p:txBody>
          <a:bodyPr wrap="none" lIns="64294" tIns="28575" rIns="64294" bIns="28575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FIGURE 4</a:t>
            </a:r>
            <a:endParaRPr lang="en-US" sz="800" dirty="0"/>
          </a:p>
        </p:txBody>
      </p:sp>
      <p:sp>
        <p:nvSpPr>
          <p:cNvPr id="61" name="Text 57"/>
          <p:cNvSpPr/>
          <p:nvPr/>
        </p:nvSpPr>
        <p:spPr>
          <a:xfrm>
            <a:off x="3502893" y="1244798"/>
            <a:ext cx="42326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14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914" dirty="0"/>
          </a:p>
        </p:txBody>
      </p:sp>
      <p:sp>
        <p:nvSpPr>
          <p:cNvPr id="62" name="Text 58"/>
          <p:cNvSpPr/>
          <p:nvPr/>
        </p:nvSpPr>
        <p:spPr>
          <a:xfrm>
            <a:off x="492919" y="1476970"/>
            <a:ext cx="3504679" cy="2998589"/>
          </a:xfrm>
          <a:prstGeom prst="roundRect">
            <a:avLst>
              <a:gd name="adj" fmla="val 4447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3" name="Image 2" descr="/tmp/h2p-fit-1781813886554-jcmr9j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19" y="1584015"/>
            <a:ext cx="3504679" cy="2784500"/>
          </a:xfrm>
          <a:prstGeom prst="rect">
            <a:avLst/>
          </a:prstGeom>
        </p:spPr>
      </p:pic>
      <p:sp>
        <p:nvSpPr>
          <p:cNvPr id="64" name="Text 59"/>
          <p:cNvSpPr/>
          <p:nvPr/>
        </p:nvSpPr>
        <p:spPr>
          <a:xfrm>
            <a:off x="492919" y="4532709"/>
            <a:ext cx="3614407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8"/>
              </a:lnSpc>
              <a:buNone/>
            </a:pPr>
            <a:r>
              <a:rPr lang="en-US" sz="800" i="1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شکل ۴ — مطالعات ablation: افت عملکرد با حذف هر جزء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400050" y="4811316"/>
            <a:ext cx="8343900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7721985" y="4886325"/>
            <a:ext cx="102196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67" name="Text 62"/>
          <p:cNvSpPr/>
          <p:nvPr/>
        </p:nvSpPr>
        <p:spPr>
          <a:xfrm>
            <a:off x="400050" y="4886325"/>
            <a:ext cx="17156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۷ / ۸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857500"/>
            <a:ext cx="7283834" cy="228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B254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12068" y="257175"/>
            <a:ext cx="76795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600"/>
              </a:lnSpc>
              <a:buNone/>
            </a:pPr>
            <a:r>
              <a:rPr lang="en-US" sz="3600" b="1" spc="-112" kern="0" dirty="0">
                <a:solidFill>
                  <a:srgbClr val="0B2545">
                    <a:alpha val="8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9664" y="371475"/>
            <a:ext cx="63841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113" kern="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SECTION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038924" y="1730573"/>
            <a:ext cx="2705026" cy="0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40378" y="1716286"/>
            <a:ext cx="0" cy="97434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8924" y="2687055"/>
            <a:ext cx="2705026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42496" y="1716286"/>
            <a:ext cx="0" cy="97434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19487" y="1730573"/>
            <a:ext cx="2705137" cy="0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21053" y="1716286"/>
            <a:ext cx="0" cy="97434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19487" y="2687055"/>
            <a:ext cx="2705137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23059" y="1716286"/>
            <a:ext cx="0" cy="97434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050" y="1730573"/>
            <a:ext cx="2705137" cy="0"/>
          </a:xfrm>
          <a:prstGeom prst="line">
            <a:avLst/>
          </a:prstGeom>
          <a:noFill/>
          <a:ln w="28575">
            <a:solidFill>
              <a:srgbClr val="13C2C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01615" y="1716286"/>
            <a:ext cx="0" cy="97434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" y="2687055"/>
            <a:ext cx="2705137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3622" y="1716286"/>
            <a:ext cx="0" cy="974341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0050" y="4811316"/>
            <a:ext cx="8343900" cy="0"/>
          </a:xfrm>
          <a:prstGeom prst="line">
            <a:avLst/>
          </a:prstGeom>
          <a:noFill/>
          <a:ln w="7144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21985" y="4886325"/>
            <a:ext cx="102196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— Protein SSL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0050" y="4886325"/>
            <a:ext cx="171562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۸ / ۸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343900" y="442913"/>
            <a:ext cx="400050" cy="35719"/>
          </a:xfrm>
          <a:prstGeom prst="roundRect">
            <a:avLst>
              <a:gd name="adj" fmla="val 79999"/>
            </a:avLst>
          </a:prstGeom>
          <a:solidFill>
            <a:srgbClr val="13C2C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0" y="592931"/>
            <a:ext cx="8636000" cy="2654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2025"/>
              </a:lnSpc>
              <a:buNone/>
            </a:pPr>
            <a:r>
              <a:rPr lang="en-US" sz="1688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جمع‌بندی و نتیجه‌گیری</a:t>
            </a:r>
            <a:endParaRPr lang="en-US" sz="1688" dirty="0"/>
          </a:p>
        </p:txBody>
      </p:sp>
      <p:sp>
        <p:nvSpPr>
          <p:cNvPr id="22" name="Text 20"/>
          <p:cNvSpPr/>
          <p:nvPr/>
        </p:nvSpPr>
        <p:spPr>
          <a:xfrm>
            <a:off x="0" y="885825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نوآوری، نتایج و کاربرد</a:t>
            </a:r>
            <a:endParaRPr lang="en-US" sz="8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1116211"/>
            <a:ext cx="8343900" cy="51435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233886" y="1244798"/>
            <a:ext cx="33861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025"/>
              </a:lnSpc>
              <a:buNone/>
            </a:pPr>
            <a:r>
              <a:rPr lang="en-US" sz="3375" b="1" dirty="0">
                <a:solidFill>
                  <a:srgbClr val="FFFFFF">
                    <a:alpha val="55000"/>
                  </a:srgbClr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»</a:t>
            </a:r>
            <a:endParaRPr lang="en-US" sz="3375" dirty="0"/>
          </a:p>
        </p:txBody>
      </p:sp>
      <p:sp>
        <p:nvSpPr>
          <p:cNvPr id="25" name="Text 22"/>
          <p:cNvSpPr/>
          <p:nvPr/>
        </p:nvSpPr>
        <p:spPr>
          <a:xfrm>
            <a:off x="3717987" y="1268239"/>
            <a:ext cx="1380753" cy="210294"/>
          </a:xfrm>
          <a:prstGeom prst="roundRect">
            <a:avLst>
              <a:gd name="adj" fmla="val 18117"/>
            </a:avLst>
          </a:prstGeom>
          <a:solidFill>
            <a:srgbClr val="0B2545">
              <a:alpha val="2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571500" y="1268239"/>
            <a:ext cx="7672388" cy="227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657"/>
              </a:lnSpc>
              <a:buNone/>
            </a:pPr>
            <a:r>
              <a:rPr lang="en-US" sz="1069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STEPS برای اولین‌بار اطلاعات ساختاری را وارد </a:t>
            </a:r>
            <a:pPr algn="r" indent="0" marL="0">
              <a:lnSpc>
                <a:spcPts val="1657"/>
              </a:lnSpc>
              <a:buNone/>
            </a:pPr>
            <a:r>
              <a:rPr lang="en-US" sz="1069" b="1" dirty="0">
                <a:solidFill>
                  <a:srgbClr val="FFFFFF"/>
                </a:solidFill>
                <a:highlight>
                  <a:srgbClr val="0B2545"/>
                </a:highlight>
                <a:latin typeface="Carlito" pitchFamily="34" charset="0"/>
                <a:ea typeface="Carlito" pitchFamily="34" charset="-122"/>
                <a:cs typeface="Carlito" pitchFamily="34" charset="-120"/>
              </a:rPr>
              <a:t>خودنظارتی پروتئین</a:t>
            </a:r>
            <a:pPr algn="r" indent="0" marL="0">
              <a:lnSpc>
                <a:spcPts val="1657"/>
              </a:lnSpc>
              <a:buNone/>
            </a:pPr>
            <a:r>
              <a:rPr lang="en-US" sz="1069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می‌کند.</a:t>
            </a:r>
            <a:endParaRPr lang="en-US" sz="1069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924" y="1716286"/>
            <a:ext cx="2705026" cy="97434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8372475" y="1844873"/>
            <a:ext cx="257175" cy="257175"/>
          </a:xfrm>
          <a:prstGeom prst="roundRect">
            <a:avLst>
              <a:gd name="adj" fmla="val 37037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8397478" y="1869877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406" dirty="0"/>
          </a:p>
        </p:txBody>
      </p:sp>
      <p:sp>
        <p:nvSpPr>
          <p:cNvPr id="30" name="Text 26"/>
          <p:cNvSpPr/>
          <p:nvPr/>
        </p:nvSpPr>
        <p:spPr>
          <a:xfrm>
            <a:off x="7461368" y="1895773"/>
            <a:ext cx="839670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نوآوری اصلی</a:t>
            </a:r>
            <a:endParaRPr lang="en-US" sz="816" dirty="0"/>
          </a:p>
        </p:txBody>
      </p:sp>
      <p:sp>
        <p:nvSpPr>
          <p:cNvPr id="31" name="Text 27"/>
          <p:cNvSpPr/>
          <p:nvPr/>
        </p:nvSpPr>
        <p:spPr>
          <a:xfrm>
            <a:off x="6153224" y="2159198"/>
            <a:ext cx="2476426" cy="424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تعریف دو وظیفه ساختاری (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Distance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+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Angle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)، معماری گرافی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GNN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، و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Pseudo Bi-level Optimization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برای انتقال دانش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PLM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به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GNN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9487" y="1716286"/>
            <a:ext cx="2705137" cy="974341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5553149" y="1844873"/>
            <a:ext cx="257175" cy="257175"/>
          </a:xfrm>
          <a:prstGeom prst="roundRect">
            <a:avLst>
              <a:gd name="adj" fmla="val 37037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5578153" y="1869877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406" dirty="0"/>
          </a:p>
        </p:txBody>
      </p:sp>
      <p:sp>
        <p:nvSpPr>
          <p:cNvPr id="35" name="Text 30"/>
          <p:cNvSpPr/>
          <p:nvPr/>
        </p:nvSpPr>
        <p:spPr>
          <a:xfrm>
            <a:off x="4481308" y="1895773"/>
            <a:ext cx="1000404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نتایج قدرتمند</a:t>
            </a:r>
            <a:endParaRPr lang="en-US" sz="816" dirty="0"/>
          </a:p>
        </p:txBody>
      </p:sp>
      <p:sp>
        <p:nvSpPr>
          <p:cNvPr id="36" name="Text 31"/>
          <p:cNvSpPr/>
          <p:nvPr/>
        </p:nvSpPr>
        <p:spPr>
          <a:xfrm>
            <a:off x="3333787" y="2159198"/>
            <a:ext cx="2476537" cy="362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برتری چشمگیر در سه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benchmark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C2: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۸۹.۶۱٪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،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C10: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۷۱.۰۵٪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،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C384: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۶۵.۳۸٪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) و کاربرد عملی برای وظایف زیستی.</a:t>
            </a:r>
            <a:endParaRPr lang="en-US" sz="800" dirty="0"/>
          </a:p>
        </p:txBody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1716286"/>
            <a:ext cx="2705137" cy="974341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2733712" y="1844873"/>
            <a:ext cx="257175" cy="257175"/>
          </a:xfrm>
          <a:prstGeom prst="roundRect">
            <a:avLst>
              <a:gd name="adj" fmla="val 37037"/>
            </a:avLst>
          </a:prstGeom>
          <a:solidFill>
            <a:srgbClr val="D6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2758715" y="1869877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0E8F8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1406" dirty="0"/>
          </a:p>
        </p:txBody>
      </p:sp>
      <p:sp>
        <p:nvSpPr>
          <p:cNvPr id="40" name="Text 34"/>
          <p:cNvSpPr/>
          <p:nvPr/>
        </p:nvSpPr>
        <p:spPr>
          <a:xfrm>
            <a:off x="1822605" y="1895773"/>
            <a:ext cx="839670" cy="167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0B254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کاربرد عملی</a:t>
            </a:r>
            <a:endParaRPr lang="en-US" sz="816" dirty="0"/>
          </a:p>
        </p:txBody>
      </p:sp>
      <p:sp>
        <p:nvSpPr>
          <p:cNvPr id="41" name="Text 35"/>
          <p:cNvSpPr/>
          <p:nvPr/>
        </p:nvSpPr>
        <p:spPr>
          <a:xfrm>
            <a:off x="514350" y="2159198"/>
            <a:ext cx="2476537" cy="362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ابزار مفید برای فهم عملکرد پروتئین در سناریوهای </a:t>
            </a:r>
            <a:pPr algn="r" indent="0" marL="0">
              <a:lnSpc>
                <a:spcPts val="1114"/>
              </a:lnSpc>
              <a:buNone/>
            </a:pPr>
            <a:r>
              <a:rPr lang="en-US" sz="800" b="1" dirty="0">
                <a:solidFill>
                  <a:srgbClr val="0E8F8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lacks-label</a:t>
            </a:r>
            <a:pPr algn="r" indent="0" marL="0">
              <a:lnSpc>
                <a:spcPts val="1114"/>
              </a:lnSpc>
              <a:buNone/>
            </a:pPr>
            <a:r>
              <a:rPr lang="en-US" sz="800" dirty="0">
                <a:solidFill>
                  <a:srgbClr val="5B6B8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مناسب پژوهش‌های زیست‌شناسی و دارورسانی.</a:t>
            </a:r>
            <a:endParaRPr lang="en-US" sz="800" dirty="0"/>
          </a:p>
        </p:txBody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2804926"/>
            <a:ext cx="8343900" cy="421481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6954971" y="2897795"/>
            <a:ext cx="164610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56"/>
              </a:lnSpc>
              <a:buNone/>
            </a:pPr>
            <a:r>
              <a:rPr lang="en-US" sz="1238" b="1" spc="-17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با تشکر از توجه شما</a:t>
            </a:r>
            <a:endParaRPr lang="en-US" sz="1238" dirty="0"/>
          </a:p>
        </p:txBody>
      </p:sp>
      <p:sp>
        <p:nvSpPr>
          <p:cNvPr id="44" name="Text 37"/>
          <p:cNvSpPr/>
          <p:nvPr/>
        </p:nvSpPr>
        <p:spPr>
          <a:xfrm>
            <a:off x="4549899" y="2897795"/>
            <a:ext cx="515466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1547" dirty="0"/>
          </a:p>
        </p:txBody>
      </p:sp>
      <p:sp>
        <p:nvSpPr>
          <p:cNvPr id="45" name="Text 38"/>
          <p:cNvSpPr/>
          <p:nvPr/>
        </p:nvSpPr>
        <p:spPr>
          <a:xfrm>
            <a:off x="546497" y="2894223"/>
            <a:ext cx="2031839" cy="242888"/>
          </a:xfrm>
          <a:prstGeom prst="roundRect">
            <a:avLst>
              <a:gd name="adj" fmla="val 3917639"/>
            </a:avLst>
          </a:prstGeom>
          <a:solidFill>
            <a:srgbClr val="FFFFFF">
              <a:alpha val="12000"/>
            </a:srgbClr>
          </a:solidFill>
          <a:ln w="7144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39"/>
          <p:cNvSpPr/>
          <p:nvPr/>
        </p:nvSpPr>
        <p:spPr>
          <a:xfrm>
            <a:off x="1247142" y="2968340"/>
            <a:ext cx="1241896" cy="114499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Chen et al., Bioinformatics 2023</a:t>
            </a:r>
            <a:endParaRPr lang="en-US" sz="800" dirty="0"/>
          </a:p>
        </p:txBody>
      </p:sp>
      <p:sp>
        <p:nvSpPr>
          <p:cNvPr id="47" name="Text 40"/>
          <p:cNvSpPr/>
          <p:nvPr/>
        </p:nvSpPr>
        <p:spPr>
          <a:xfrm>
            <a:off x="635794" y="2940658"/>
            <a:ext cx="561342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13C2C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9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2026-06-18T20:18:06Z</dcterms:created>
  <dcterms:modified xsi:type="dcterms:W3CDTF">2026-06-18T20:18:06Z</dcterms:modified>
</cp:coreProperties>
</file>