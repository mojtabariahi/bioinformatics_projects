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66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معرفی عنوان مقاله و نویسندگان.
- اشاره به اینکه ارائه بر اساس مقاله استاد است.
- هدف: فهم مفهومی روش STEPS و استخراج نکات کلیدی.
- آمادگی برای پاسخ به چالش‌های ارائه.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بیشتر روش‌های SSL پروتئین فقط توالی محور هستند.
- اطلاعات ساختاری برای آنوتیشن عملکرد حیاتی است.
- داده‌های برچسب‌دار کم است و آزمایش wet-lab گران است.
- این کمبودها انگیزه روش STEPS را شکل می‌دهند.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STEPS یک Protein LM پیش‌آموزده دیده را با GNN ترکیب می‌کند.
- دو تسک خودنظارتی ساختاری معرفی می‌شود: Distance و Angle.
- اولین روشی که ساختار سه‌بعدی را به طور صریح در SSL پروتئین تزریق می‌کند.
- توالی و ساختار همزمان وارد مدل می‌شوند تا نمایش غنی‌تر شکل گیرد.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گراف: نودها = آمینواسیدها، یال = فاصله کمتر از 7Å.
- ورودی شامل embedding از PLM، ویژگی زاویه‌ای و edge feature است.
- دو head: Distance (طبقه‌بندی) و Angle (ممیزی).
- Mutual Information نمایش توالی و ساختار را هم‌راستا می‌کند.
- Pseudo Bi-level Optimization به‌روزرسانی PLM و GNN را هماهنگ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تسک Distance یک طبقه‌بندی چندکلاسه است با Cross-Entropy.
- این تسک شکل کلی backbone را رمزگذاری می‌کند.
- تسک Angle یک رگرسیون MSE است که خمیدگی محلی را یاد می‌گیرد.
- ترکیب L_dis و L_ang نمایش ساختاری غنی‌تر می‌سازد.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STEPS در هر سه benchmark بهترین دقت را دارد.
- بیشترین بهبود در C384 با ۳۶٪ نسبت به baseline.
- مطالعات ablation در اسلاید بعد بررسی می‌شود.
- ترکیب توالی و ساختار برای عملکرد بالا ضروری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داده ساختاری معتبر، گلوگاه اصلی یادگیری است.
- ترازسازی دقیق sequence و structure برای هر residue ضروری است.
- ساختار نامعتبر مستقیماً به افت عملکرد مدل می‌انجامد.
- مطالعات ablation نشان می‌دهد هر چهار جزء ضروری هستند.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STEPS نخستین روش خودنظارتی آگاه از ساختار پروتئین است.
- سه نوآوری: دو تسک ساختاری، GNN، و Pseudo Bi-level Optimization.
- کاربرد عملی برای پژوهش‌های زیست‌شناسی و دارورسانی.
- تشکر از مخاطبان و معرفی منبع مقاله.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5750"/>
            <a:ext cx="8636000" cy="3857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71625" y="4000500"/>
            <a:ext cx="2357438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B2545"/>
                </a:solidFill>
                <a:ea typeface="Segoe UI Symbol" pitchFamily="34" charset="-122"/>
                <a:cs typeface="B Nazanin" panose="00000400000000000000" pitchFamily="2" charset="-78"/>
              </a:rPr>
              <a:t>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552172" y="24880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4828" y="200025"/>
            <a:ext cx="15691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kern="0" spc="68" dirty="0">
                <a:solidFill>
                  <a:srgbClr val="5B6B85"/>
                </a:solidFill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729663" y="2974479"/>
            <a:ext cx="0" cy="573956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2485" y="3723456"/>
            <a:ext cx="511146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710" y="4804172"/>
            <a:ext cx="5765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7"/>
              </a:lnSpc>
              <a:buNone/>
            </a:pPr>
            <a:r>
              <a:rPr lang="en-US" sz="800" b="1" kern="0" spc="113" dirty="0">
                <a:solidFill>
                  <a:srgbClr val="5B6B85"/>
                </a:solidFill>
                <a:ea typeface="Liberation Sans Narrow" pitchFamily="34" charset="-122"/>
                <a:cs typeface="B Nazanin" panose="00000400000000000000" pitchFamily="2" charset="-78"/>
              </a:rPr>
              <a:t>01 / 08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11332" y="949199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2485" y="1124694"/>
            <a:ext cx="5111465" cy="93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402"/>
              </a:lnSpc>
              <a:buNone/>
            </a:pPr>
            <a:r>
              <a:rPr lang="en-US" sz="3150" b="1" kern="0" spc="-28" dirty="0">
                <a:solidFill>
                  <a:srgbClr val="0B2545"/>
                </a:solidFill>
                <a:ea typeface="Carlito" pitchFamily="34" charset="-122"/>
                <a:cs typeface="B Nazanin" panose="00000400000000000000" pitchFamily="2" charset="-78"/>
              </a:rPr>
              <a:t>Structure-aware Protein</a:t>
            </a:r>
            <a:endParaRPr lang="en-US" sz="3150" dirty="0"/>
          </a:p>
          <a:p>
            <a:pPr marL="0" indent="0" algn="r">
              <a:lnSpc>
                <a:spcPts val="3402"/>
              </a:lnSpc>
              <a:buNone/>
            </a:pPr>
            <a:r>
              <a:rPr lang="en-US" sz="3150" b="1" kern="0" spc="-28" dirty="0">
                <a:solidFill>
                  <a:srgbClr val="0B2545"/>
                </a:solidFill>
                <a:ea typeface="Carlito" pitchFamily="34" charset="-122"/>
                <a:cs typeface="B Nazanin" panose="00000400000000000000" pitchFamily="2" charset="-78"/>
              </a:rPr>
              <a:t>Self-Supervised Learning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223568" y="2102941"/>
            <a:ext cx="5520382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63"/>
              </a:lnSpc>
            </a:pP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آگاه</a:t>
            </a:r>
            <a:r>
              <a:rPr lang="fa-IR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ی</a:t>
            </a:r>
            <a:r>
              <a:rPr lang="en-US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از</a:t>
            </a:r>
            <a:r>
              <a:rPr lang="en-US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ساختار</a:t>
            </a:r>
            <a:r>
              <a:rPr lang="en-US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پروتئین</a:t>
            </a:r>
            <a:r>
              <a:rPr lang="en-US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و </a:t>
            </a: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یادگیری</a:t>
            </a:r>
            <a:r>
              <a:rPr lang="en-US" sz="1688" b="1" dirty="0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688" b="1" dirty="0" err="1">
                <a:solidFill>
                  <a:srgbClr val="0E8F8F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خودنظارتی</a:t>
            </a:r>
            <a:endParaRPr lang="en-US" sz="1688" dirty="0"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15026" y="2545854"/>
            <a:ext cx="1928924" cy="257175"/>
          </a:xfrm>
          <a:prstGeom prst="roundRect">
            <a:avLst>
              <a:gd name="adj" fmla="val 3700000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15608" y="2561431"/>
            <a:ext cx="1303400" cy="237531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marL="0" indent="0" algn="r" rtl="1">
              <a:lnSpc>
                <a:spcPts val="1097"/>
              </a:lnSpc>
              <a:buNone/>
            </a:pPr>
            <a:r>
              <a:rPr lang="en-US" sz="1200" dirty="0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ارائه بر </a:t>
            </a:r>
            <a:r>
              <a:rPr lang="en-US" sz="1200" dirty="0" err="1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اساس</a:t>
            </a:r>
            <a:r>
              <a:rPr lang="en-US" sz="1200" dirty="0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200" dirty="0" err="1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مقاله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19008" y="2588716"/>
            <a:ext cx="3249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ea typeface="Segoe UI Symbol" pitchFamily="34" charset="-122"/>
                <a:cs typeface="B Nazanin" panose="00000400000000000000" pitchFamily="2" charset="-78"/>
              </a:rPr>
              <a:t>▿</a:t>
            </a:r>
            <a:endParaRPr lang="en-US" sz="1125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485" y="2974479"/>
            <a:ext cx="5111465" cy="5739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19008" y="3103066"/>
            <a:ext cx="25349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E8F8F"/>
                </a:solidFill>
                <a:ea typeface="Segoe UI Symbol" pitchFamily="34" charset="-122"/>
                <a:cs typeface="B Nazanin" panose="00000400000000000000" pitchFamily="2" charset="-78"/>
              </a:rPr>
              <a:t>⚑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3775360" y="3088779"/>
            <a:ext cx="445792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kern="0" spc="56" dirty="0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هدف ارائه</a:t>
            </a:r>
            <a:endParaRPr lang="en-US" sz="800" b="1" dirty="0"/>
          </a:p>
        </p:txBody>
      </p:sp>
      <p:sp>
        <p:nvSpPr>
          <p:cNvPr id="18" name="Text 15"/>
          <p:cNvSpPr/>
          <p:nvPr/>
        </p:nvSpPr>
        <p:spPr>
          <a:xfrm>
            <a:off x="4741664" y="3245941"/>
            <a:ext cx="3491619" cy="18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82"/>
              </a:lnSpc>
              <a:buNone/>
            </a:pPr>
            <a:r>
              <a:rPr lang="en-US" sz="872" dirty="0">
                <a:solidFill>
                  <a:srgbClr val="0B2545"/>
                </a:solidFill>
                <a:ea typeface="Carlito" pitchFamily="34" charset="-122"/>
                <a:cs typeface="B Nazanin" panose="00000400000000000000" pitchFamily="2" charset="-78"/>
              </a:rPr>
              <a:t>فهم مفهومی، استخراج نکات کلیدی و پاسخ به چالش‌های ارائه</a:t>
            </a:r>
            <a:endParaRPr lang="en-US" sz="872" dirty="0">
              <a:cs typeface="B Nazanin" panose="00000400000000000000" pitchFamily="2" charset="-7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32485" y="3827041"/>
            <a:ext cx="5111465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266"/>
              </a:lnSpc>
              <a:buNone/>
            </a:pPr>
            <a:r>
              <a:rPr lang="en-US" sz="844" dirty="0">
                <a:solidFill>
                  <a:srgbClr val="0B2545"/>
                </a:solidFill>
                <a:ea typeface="Carlito" pitchFamily="34" charset="-122"/>
                <a:cs typeface="B Nazanin" panose="00000400000000000000" pitchFamily="2" charset="-78"/>
              </a:rPr>
              <a:t>Can (Sam) Chen, Jingbo Zhou, Fan Wang, Xue Liu, Dejing Dou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3632485" y="4016350"/>
            <a:ext cx="5111465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055"/>
              </a:lnSpc>
              <a:buNone/>
            </a:pPr>
            <a:r>
              <a:rPr lang="en-US" sz="800" kern="0" spc="11" dirty="0">
                <a:solidFill>
                  <a:srgbClr val="5B6B85"/>
                </a:solidFill>
                <a:ea typeface="Carlito" pitchFamily="34" charset="-122"/>
                <a:cs typeface="B Nazanin" panose="00000400000000000000" pitchFamily="2" charset="-78"/>
              </a:rPr>
              <a:t>McGill University · MILA · Baidu Research · BCG X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632485" y="4207446"/>
            <a:ext cx="5111465" cy="1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kern="0" spc="23" dirty="0">
                <a:solidFill>
                  <a:srgbClr val="0E8F8F"/>
                </a:solidFill>
                <a:ea typeface="Segoe UI Symbol" pitchFamily="34" charset="-122"/>
                <a:cs typeface="B Nazanin" panose="00000400000000000000" pitchFamily="2" charset="-78"/>
              </a:rPr>
              <a:t>▤</a:t>
            </a:r>
            <a:r>
              <a:rPr lang="en-US" sz="800" kern="0" spc="23" dirty="0">
                <a:solidFill>
                  <a:srgbClr val="0E8F8F"/>
                </a:solidFill>
                <a:ea typeface="Carlito" pitchFamily="34" charset="-122"/>
                <a:cs typeface="B Nazanin" panose="00000400000000000000" pitchFamily="2" charset="-78"/>
              </a:rPr>
              <a:t> Bioinformatics (2023) — Oxford Academic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3355" y="1643063"/>
            <a:ext cx="1557338" cy="1557338"/>
          </a:xfrm>
          <a:prstGeom prst="ellipse">
            <a:avLst/>
          </a:prstGeom>
          <a:noFill/>
          <a:ln w="14288">
            <a:solidFill>
              <a:srgbClr val="13C2C2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287661" y="1807369"/>
            <a:ext cx="1228725" cy="1228725"/>
          </a:xfrm>
          <a:prstGeom prst="ellipse">
            <a:avLst/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332309" y="1852017"/>
            <a:ext cx="1139428" cy="1139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1044773" y="1564481"/>
            <a:ext cx="257175" cy="257175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416373" y="3050381"/>
            <a:ext cx="214313" cy="214313"/>
          </a:xfrm>
          <a:prstGeom prst="ellipse">
            <a:avLst/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36835" y="1610200"/>
            <a:ext cx="263257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903724" y="3378994"/>
            <a:ext cx="199671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69" dirty="0">
                <a:solidFill>
                  <a:srgbClr val="5B6B85"/>
                </a:solidFill>
                <a:ea typeface="Carlito" pitchFamily="34" charset="-122"/>
                <a:cs typeface="B Nazanin" panose="00000400000000000000" pitchFamily="2" charset="-78"/>
              </a:rPr>
              <a:t>SEQUENCE × STRUCTURE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3355" y="3539728"/>
            <a:ext cx="1536729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0B2545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توالی</a:t>
            </a:r>
            <a:r>
              <a:rPr lang="en-US" sz="800" dirty="0">
                <a:solidFill>
                  <a:srgbClr val="0B2545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800" dirty="0">
                <a:solidFill>
                  <a:srgbClr val="0B2545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    </a:t>
            </a:r>
            <a:r>
              <a:rPr lang="en-US" sz="800" dirty="0">
                <a:solidFill>
                  <a:srgbClr val="0B2545"/>
                </a:solidFill>
                <a:latin typeface="Calibri" panose="020F0502020204030204" pitchFamily="34" charset="0"/>
                <a:ea typeface="Carlito" pitchFamily="34" charset="-122"/>
                <a:cs typeface="B Nazanin" panose="00000400000000000000" pitchFamily="2" charset="-78"/>
              </a:rPr>
              <a:t>× ساختار سه‌بعدی</a:t>
            </a:r>
            <a:endParaRPr lang="en-US" sz="800" dirty="0"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36CDF429-ADC3-7C70-E330-23C2D24FE185}"/>
              </a:ext>
            </a:extLst>
          </p:cNvPr>
          <p:cNvSpPr/>
          <p:nvPr/>
        </p:nvSpPr>
        <p:spPr>
          <a:xfrm>
            <a:off x="2396827" y="3070264"/>
            <a:ext cx="263257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02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b="1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592931"/>
            <a:ext cx="863600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16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مسئله و چرا این مقاله؟</a:t>
            </a: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910047"/>
            <a:ext cx="86360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3"/>
              </a:lnSpc>
              <a:buNone/>
            </a:pPr>
            <a:r>
              <a:rPr lang="en-US" sz="816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چرا نمایش پروتئین ناقص است و چه کمبودهایی وجود دارد</a:t>
            </a:r>
            <a:endParaRPr lang="en-US" sz="81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99104" y="1239516"/>
            <a:ext cx="84576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چالش‌های موجود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49183" y="1208298"/>
            <a:ext cx="9947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⚠</a:t>
            </a:r>
            <a:endParaRPr lang="en-US" sz="112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35" y="1536911"/>
            <a:ext cx="4903515" cy="724644"/>
          </a:xfrm>
          <a:prstGeom prst="roundRect">
            <a:avLst>
              <a:gd name="adj" fmla="val 15773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35" y="1540483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9663" y="1536911"/>
            <a:ext cx="0" cy="724644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35" y="2257983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4007" y="1536911"/>
            <a:ext cx="0" cy="724644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5325" y="164406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44257" y="16729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⇄</a:t>
            </a:r>
            <a:endParaRPr lang="en-US" sz="1547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61879" y="1644067"/>
            <a:ext cx="4267721" cy="16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نادیده گرفتن ساختار سه‌بعدی</a:t>
            </a:r>
            <a:endParaRPr lang="en-US" sz="872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61879" y="1838734"/>
            <a:ext cx="426772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43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بیشتر مدل‌ها فقط از توالی آمینواسید استفاده می‌کنند و ساختار سه‌بعدی پروتئین را نادیده می‌گیرند، در حالی که عملکرد پروتئین مستقیماً به شکل فضایی آن وابسته است.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35" y="2347280"/>
            <a:ext cx="4903515" cy="724644"/>
          </a:xfrm>
          <a:prstGeom prst="roundRect">
            <a:avLst>
              <a:gd name="adj" fmla="val 15773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0435" y="2350852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9663" y="2347280"/>
            <a:ext cx="0" cy="724644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35" y="3068352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4007" y="2347280"/>
            <a:ext cx="0" cy="724644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5325" y="245443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44257" y="248336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◔</a:t>
            </a:r>
            <a:endParaRPr lang="en-US" sz="1547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61879" y="2454436"/>
            <a:ext cx="4267721" cy="16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1308"/>
              </a:lnSpc>
            </a:pPr>
            <a:r>
              <a:rPr lang="en-US" sz="872" b="1" dirty="0"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دقت پایین </a:t>
            </a:r>
            <a:r>
              <a:rPr lang="en-US" sz="872" b="1" dirty="0" err="1"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</a:t>
            </a:r>
            <a:r>
              <a:rPr lang="en-US" sz="872" b="1" dirty="0"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b="1" dirty="0">
                <a:latin typeface="Times New Roman" panose="02020603050405020304" pitchFamily="18" charset="0"/>
                <a:cs typeface="B Nazanin" panose="00000400000000000000" pitchFamily="2" charset="-78"/>
              </a:rPr>
              <a:t>تفسیر</a:t>
            </a:r>
            <a:r>
              <a:rPr lang="en-US" sz="872" b="1" dirty="0"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عملکرد</a:t>
            </a:r>
            <a:endParaRPr lang="en-US" sz="872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61879" y="2649103"/>
            <a:ext cx="426772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243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نمایش ناقص پروتئین منجر به دقت پایین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تفسیر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عملکرد و دسته‌بندی واکنش‌های آنزیمی می‌شود که در کاربردهای زیستی حیاتی است.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35" y="3157649"/>
            <a:ext cx="4903515" cy="724644"/>
          </a:xfrm>
          <a:prstGeom prst="roundRect">
            <a:avLst>
              <a:gd name="adj" fmla="val 15773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40435" y="3161221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29663" y="3157649"/>
            <a:ext cx="0" cy="724644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35" y="3878721"/>
            <a:ext cx="4903515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4007" y="3157649"/>
            <a:ext cx="0" cy="724644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5325" y="326480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44257" y="32937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⚗</a:t>
            </a:r>
            <a:endParaRPr lang="en-US" sz="1547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61879" y="3264805"/>
            <a:ext cx="4267721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کمبود داده‌های برچسب‌دار</a:t>
            </a:r>
            <a:endParaRPr lang="en-US" sz="872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961879" y="3459473"/>
            <a:ext cx="426772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43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هزینه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و زمان بالای آزمایش‌های آزمایشگاهی (wet-lab) باعث کمبود داده‌های برچسب‌دار پروتئین می‌شود که یادگیری نظارت‌شده را محدود می‌کند.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8975" y="1225228"/>
            <a:ext cx="84576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9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داده‌های کلیدی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145036" y="1208298"/>
            <a:ext cx="5239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◆</a:t>
            </a:r>
            <a:endParaRPr lang="en-US" sz="112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536911"/>
            <a:ext cx="3268935" cy="712589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335225"/>
            <a:ext cx="3268935" cy="712589"/>
          </a:xfrm>
          <a:prstGeom prst="rect">
            <a:avLst/>
          </a:prstGeom>
        </p:spPr>
      </p:pic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6" y="3138820"/>
            <a:ext cx="3268935" cy="712589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۲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1236130" y="1626974"/>
            <a:ext cx="81267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۹۹٪</a:t>
            </a:r>
            <a:endParaRPr lang="en-US" sz="22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528638" y="2001255"/>
            <a:ext cx="301176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55"/>
              </a:lnSpc>
            </a:pPr>
            <a:r>
              <a:rPr lang="en-US" sz="1050" dirty="0" err="1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توالی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050" dirty="0" err="1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پروتئین‌های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‌</a:t>
            </a:r>
            <a:r>
              <a:rPr lang="en-US" sz="1050" dirty="0" err="1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شناخته‌شده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بدون ساختار معتبر</a:t>
            </a:r>
            <a:endParaRPr lang="en-US" sz="10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1319884" y="2429567"/>
            <a:ext cx="81267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۳۸۴</a:t>
            </a:r>
            <a:endParaRPr lang="en-US" sz="22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528638" y="2799569"/>
            <a:ext cx="301176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5"/>
              </a:lnSpc>
              <a:buNone/>
            </a:pPr>
            <a:r>
              <a:rPr lang="en-US" sz="100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کلاس واکنش آنزیمی (C384) برای دسته‌بندی</a:t>
            </a:r>
            <a:endParaRPr lang="en-US" sz="1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1323499" y="3214626"/>
            <a:ext cx="80544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۱۰×</a:t>
            </a:r>
            <a:endParaRPr lang="en-US" sz="22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528638" y="3597883"/>
            <a:ext cx="301176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5"/>
              </a:lnSpc>
              <a:buNone/>
            </a:pPr>
            <a:r>
              <a:rPr lang="en-US" sz="1050" dirty="0" err="1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هزینه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آزمایشگاهی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1050" dirty="0" err="1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نسبت</a:t>
            </a:r>
            <a:r>
              <a:rPr lang="en-US" sz="1050" dirty="0">
                <a:solidFill>
                  <a:srgbClr val="C8D4E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به شبیه‌سازی محاسباتی</a:t>
            </a:r>
            <a:endParaRPr lang="en-US" sz="10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03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16850" y="592931"/>
            <a:ext cx="81915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160"/>
              </a:lnSpc>
              <a:buNone/>
            </a:pPr>
            <a:r>
              <a:rPr lang="fa-IR" sz="14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راه حل نوآورانه</a:t>
            </a:r>
            <a:endParaRPr lang="en-US" sz="1400" dirty="0">
              <a:solidFill>
                <a:srgbClr val="0B2545"/>
              </a:solidFill>
              <a:latin typeface="Times New Roman" panose="02020603050405020304" pitchFamily="18" charset="0"/>
              <a:ea typeface="Carlito" pitchFamily="34" charset="-122"/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0050" y="910047"/>
            <a:ext cx="83439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3"/>
              </a:lnSpc>
              <a:buNone/>
            </a:pPr>
            <a:r>
              <a:rPr lang="en-US" sz="816" kern="0" spc="17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STructure-awarE Protein Self-supervised Learning</a:t>
            </a:r>
            <a:endParaRPr lang="en-US" sz="81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096" y="1208298"/>
            <a:ext cx="2156854" cy="335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23299" y="1232433"/>
            <a:ext cx="1456320" cy="276836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marL="0" indent="0" algn="r">
              <a:lnSpc>
                <a:spcPts val="1181"/>
              </a:lnSpc>
              <a:buNone/>
            </a:pPr>
            <a:r>
              <a:rPr lang="fa-IR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(مدل ترکیبی)</a:t>
            </a: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Protein LM + GNN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43441" y="1279736"/>
            <a:ext cx="3719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26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47009" y="1647639"/>
            <a:ext cx="4093369" cy="644723"/>
          </a:xfrm>
          <a:prstGeom prst="roundRect">
            <a:avLst>
              <a:gd name="adj" fmla="val 17729"/>
            </a:avLst>
          </a:prstGeom>
          <a:solidFill>
            <a:srgbClr val="F4F7FB"/>
          </a:solidFill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379619" y="1736936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04622" y="176193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40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0594" y="1736936"/>
            <a:ext cx="35433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r">
              <a:lnSpc>
                <a:spcPts val="1181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ورود همزمان ساختار و توالی</a:t>
            </a:r>
            <a:endParaRPr lang="en-US" sz="10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0594" y="1908386"/>
            <a:ext cx="3593306" cy="28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اطلاعات 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ساختاری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سه‌بعدی و توالی آمینواسید به صورت همزمان وارد مدل می‌شوند تا نمایش غنی‌تری از پروتئین ساخته شود.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2367373"/>
            <a:ext cx="4100513" cy="5366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4309" y="2358245"/>
            <a:ext cx="4093369" cy="630434"/>
          </a:xfrm>
          <a:prstGeom prst="roundRect">
            <a:avLst>
              <a:gd name="adj" fmla="val 17729"/>
            </a:avLst>
          </a:prstGeom>
          <a:noFill/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379619" y="2460241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404622" y="248524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40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945234" y="2440397"/>
            <a:ext cx="457782" cy="161627"/>
          </a:xfrm>
          <a:prstGeom prst="roundRect">
            <a:avLst>
              <a:gd name="adj" fmla="val 28070"/>
            </a:avLst>
          </a:prstGeom>
          <a:solidFill>
            <a:srgbClr val="0E8F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772729" y="2447773"/>
            <a:ext cx="35433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181"/>
              </a:lnSpc>
              <a:buNone/>
            </a:pPr>
            <a:r>
              <a:rPr lang="en-US" sz="900" kern="0" spc="28" dirty="0">
                <a:solidFill>
                  <a:srgbClr val="FFFFFF"/>
                </a:solidFill>
                <a:highlight>
                  <a:srgbClr val="0E8F8F"/>
                </a:highlight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TASK 1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Distance Prediction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09138" y="2704021"/>
            <a:ext cx="354330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0"/>
              </a:lnSpc>
              <a:buNone/>
            </a:pPr>
            <a:r>
              <a:rPr lang="fa-IR" sz="900" dirty="0">
                <a:latin typeface="Times New Roman" panose="02020603050405020304" pitchFamily="18" charset="0"/>
                <a:cs typeface="B Nazanin" panose="00000400000000000000" pitchFamily="2" charset="-78"/>
              </a:rPr>
              <a:t>یادگیری فاصله بین امینو اسید ها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3090676"/>
            <a:ext cx="4100513" cy="504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47009" y="3094248"/>
            <a:ext cx="4093369" cy="497384"/>
          </a:xfrm>
          <a:prstGeom prst="roundRect">
            <a:avLst>
              <a:gd name="adj" fmla="val 22980"/>
            </a:avLst>
          </a:prstGeom>
          <a:noFill/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379619" y="3183545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404622" y="320854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↻</a:t>
            </a:r>
            <a:endParaRPr lang="en-US" sz="140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082234" y="3164358"/>
            <a:ext cx="478631" cy="148568"/>
          </a:xfrm>
          <a:prstGeom prst="roundRect">
            <a:avLst>
              <a:gd name="adj" fmla="val 28070"/>
            </a:avLst>
          </a:prstGeom>
          <a:solidFill>
            <a:srgbClr val="0E8F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745265" y="3161402"/>
            <a:ext cx="3530770" cy="32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1181"/>
              </a:lnSpc>
              <a:buNone/>
            </a:pPr>
            <a:r>
              <a:rPr lang="en-US" sz="800" kern="0" spc="28" dirty="0">
                <a:solidFill>
                  <a:srgbClr val="FFFFFF"/>
                </a:solidFill>
                <a:highlight>
                  <a:srgbClr val="0E8F8F"/>
                </a:highlight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TASK 2</a:t>
            </a: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 </a:t>
            </a: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Angle Prediction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972273" y="3354995"/>
            <a:ext cx="332162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0"/>
              </a:lnSpc>
              <a:buNone/>
            </a:pP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یادگیری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و بازسازی زاویه‌های دیهدرال برای درک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خمیدگی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محلی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.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208298"/>
            <a:ext cx="4100513" cy="35351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03622" y="1211870"/>
            <a:ext cx="4093369" cy="3528008"/>
          </a:xfrm>
          <a:prstGeom prst="roundRect">
            <a:avLst>
              <a:gd name="adj" fmla="val 3780"/>
            </a:avLst>
          </a:prstGeom>
          <a:noFill/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3570335" y="1302810"/>
            <a:ext cx="845932" cy="236030"/>
          </a:xfrm>
          <a:prstGeom prst="roundRect">
            <a:avLst>
              <a:gd name="adj" fmla="val 24213"/>
            </a:avLst>
          </a:prstGeom>
          <a:solidFill>
            <a:srgbClr val="FFFFFF"/>
          </a:solidFill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703923" y="1371712"/>
            <a:ext cx="346025" cy="91440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fa-IR" sz="800" dirty="0">
                <a:solidFill>
                  <a:srgbClr val="0E8F8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شکل 1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4053520" y="1351173"/>
            <a:ext cx="26844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▣</a:t>
            </a:r>
            <a:endParaRPr lang="en-US" sz="914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34" name="Image 4" descr="/tmp/h2p-fit-1781813885294-332at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1105287"/>
            <a:ext cx="3886200" cy="330062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206" y="4513064"/>
            <a:ext cx="399592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شکل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۱ —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نمای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کلی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رویکردSTEPS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۳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F8CBFF5D-3BAB-5FAB-6E52-3D015D8E3B3A}"/>
              </a:ext>
            </a:extLst>
          </p:cNvPr>
          <p:cNvSpPr/>
          <p:nvPr/>
        </p:nvSpPr>
        <p:spPr>
          <a:xfrm>
            <a:off x="6826250" y="606109"/>
            <a:ext cx="99060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16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(STEPS)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04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592931"/>
            <a:ext cx="863600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160"/>
              </a:lnSpc>
              <a:buNone/>
            </a:pPr>
            <a:r>
              <a:rPr lang="en-US" sz="1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معماری و روش مدل</a:t>
            </a:r>
            <a:endParaRPr lang="en-US" sz="1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3622" y="910047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1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مدل‌سازی گراف + Mutual Information + Bi-level Optimization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914" y="1146077"/>
            <a:ext cx="4510608" cy="35690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36913" y="1177938"/>
            <a:ext cx="4503465" cy="3184511"/>
          </a:xfrm>
          <a:prstGeom prst="roundRect">
            <a:avLst>
              <a:gd name="adj" fmla="val 3744"/>
            </a:avLst>
          </a:prstGeom>
          <a:noFill/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04085" y="1268877"/>
            <a:ext cx="1155569" cy="236030"/>
          </a:xfrm>
          <a:prstGeom prst="roundRect">
            <a:avLst>
              <a:gd name="adj" fmla="val 24213"/>
            </a:avLst>
          </a:prstGeom>
          <a:solidFill>
            <a:srgbClr val="FFFFFF"/>
          </a:solidFill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1395" y="1337779"/>
            <a:ext cx="346025" cy="91440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fa-IR" sz="800" dirty="0">
                <a:solidFill>
                  <a:srgbClr val="0E8F8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شکل 2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87271" y="1317241"/>
            <a:ext cx="57808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✿</a:t>
            </a:r>
            <a:endParaRPr lang="en-US" sz="914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12" name="Image 1" descr="/tmp/h2p-fit-1781813885443-hzq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9391"/>
            <a:ext cx="4296296" cy="18213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1498" y="4133837"/>
            <a:ext cx="440602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شکل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2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— معماری کامل مدل STEPS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233826" y="1210084"/>
            <a:ext cx="775256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اجزای معماری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066231" y="1174366"/>
            <a:ext cx="102423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05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03622" y="1460116"/>
            <a:ext cx="3683273" cy="449275"/>
          </a:xfrm>
          <a:prstGeom prst="roundRect">
            <a:avLst>
              <a:gd name="adj" fmla="val 23321"/>
            </a:avLst>
          </a:prstGeom>
          <a:solidFill>
            <a:srgbClr val="F4F7FB"/>
          </a:solidFill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0063" y="1520837"/>
            <a:ext cx="92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۰۱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567" y="1542269"/>
            <a:ext cx="242888" cy="242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70605" y="1565307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33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928885" y="1542269"/>
            <a:ext cx="17401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r">
              <a:lnSpc>
                <a:spcPts val="1097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مدل‌سازی گراف پروتئین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220641" y="1720825"/>
            <a:ext cx="430485" cy="1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fa-IR" sz="900" dirty="0">
                <a:latin typeface="Times New Roman" panose="02020603050405020304" pitchFamily="18" charset="0"/>
                <a:cs typeface="B Nazanin" panose="00000400000000000000" pitchFamily="2" charset="-78"/>
              </a:rPr>
              <a:t>نود ها: 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15174" y="1974899"/>
            <a:ext cx="3683273" cy="449275"/>
          </a:xfrm>
          <a:prstGeom prst="roundRect">
            <a:avLst>
              <a:gd name="adj" fmla="val 23321"/>
            </a:avLst>
          </a:prstGeom>
          <a:solidFill>
            <a:srgbClr val="F4F7FB"/>
          </a:solidFill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00063" y="2041550"/>
            <a:ext cx="92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۰۲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567" y="2062981"/>
            <a:ext cx="242888" cy="242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70605" y="208602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33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00063" y="2062981"/>
            <a:ext cx="316892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r">
              <a:lnSpc>
                <a:spcPts val="1097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ورودی چندوجهی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44637" y="2248449"/>
            <a:ext cx="2824349" cy="18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35"/>
              </a:lnSpc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embedding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توالی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+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ویژگی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زاویه‌ای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+ edge feature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03622" y="2501540"/>
            <a:ext cx="3683273" cy="468987"/>
          </a:xfrm>
          <a:prstGeom prst="roundRect">
            <a:avLst>
              <a:gd name="adj" fmla="val 23321"/>
            </a:avLst>
          </a:prstGeom>
          <a:solidFill>
            <a:srgbClr val="F4F7FB"/>
          </a:solidFill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00063" y="2562262"/>
            <a:ext cx="92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۰۳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567" y="2583693"/>
            <a:ext cx="242888" cy="242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70605" y="2606732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33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1102298" y="2583693"/>
            <a:ext cx="25666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r">
              <a:lnSpc>
                <a:spcPts val="1097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head </a:t>
            </a:r>
            <a:r>
              <a:rPr lang="en-US" sz="900" b="1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خروجی</a:t>
            </a:r>
            <a:r>
              <a:rPr lang="fa-IR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دو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1478979" y="2769161"/>
            <a:ext cx="2190006" cy="1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Distance Head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+ </a:t>
            </a: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Angle Head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415174" y="3022253"/>
            <a:ext cx="3683273" cy="580653"/>
          </a:xfrm>
          <a:prstGeom prst="roundRect">
            <a:avLst>
              <a:gd name="adj" fmla="val 18044"/>
            </a:avLst>
          </a:prstGeom>
          <a:solidFill>
            <a:srgbClr val="F4F7FB"/>
          </a:solidFill>
          <a:ln w="7144">
            <a:solidFill>
              <a:srgbClr val="D7DE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500063" y="3082975"/>
            <a:ext cx="92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۰۴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567" y="3104406"/>
            <a:ext cx="242888" cy="242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70605" y="3127444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↻</a:t>
            </a:r>
            <a:endParaRPr lang="en-US" sz="133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06637" y="3104406"/>
            <a:ext cx="316234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97"/>
              </a:lnSpc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PLM </a:t>
            </a:r>
            <a:r>
              <a:rPr lang="fa-IR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و</a:t>
            </a: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GNN </a:t>
            </a:r>
            <a:r>
              <a:rPr lang="en-US" sz="900" b="1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هماهنگی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657225" y="3289971"/>
            <a:ext cx="3011760" cy="2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Mutual Information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بین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نمایش توالی و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ساختار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+ 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Pseudo Bi-level Optimization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برای هماهنگی PLM و GNN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۴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3A7D6D5-E1D0-20B3-27AD-696EC493384C}"/>
              </a:ext>
            </a:extLst>
          </p:cNvPr>
          <p:cNvSpPr/>
          <p:nvPr/>
        </p:nvSpPr>
        <p:spPr>
          <a:xfrm>
            <a:off x="2964917" y="1723410"/>
            <a:ext cx="430485" cy="1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cs typeface="B Nazanin" panose="00000400000000000000" pitchFamily="2" charset="-78"/>
              </a:rPr>
              <a:t>residue</a:t>
            </a: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C3D7A88-177A-0130-3808-1DAE855CF625}"/>
              </a:ext>
            </a:extLst>
          </p:cNvPr>
          <p:cNvSpPr/>
          <p:nvPr/>
        </p:nvSpPr>
        <p:spPr>
          <a:xfrm>
            <a:off x="2419068" y="1729879"/>
            <a:ext cx="305081" cy="1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fa-IR" sz="900" dirty="0">
                <a:latin typeface="Times New Roman" panose="02020603050405020304" pitchFamily="18" charset="0"/>
                <a:cs typeface="B Nazanin" panose="00000400000000000000" pitchFamily="2" charset="-78"/>
              </a:rPr>
              <a:t>یال ها :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D693F2C-6A3F-B06B-957C-FAB3E4249238}"/>
              </a:ext>
            </a:extLst>
          </p:cNvPr>
          <p:cNvSpPr/>
          <p:nvPr/>
        </p:nvSpPr>
        <p:spPr>
          <a:xfrm>
            <a:off x="1333500" y="1733959"/>
            <a:ext cx="1104185" cy="16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fa-IR" sz="900" dirty="0">
                <a:latin typeface="Times New Roman" panose="02020603050405020304" pitchFamily="18" charset="0"/>
                <a:cs typeface="B Nazanin" panose="00000400000000000000" pitchFamily="2" charset="-78"/>
              </a:rPr>
              <a:t>فاصله کمتر از 7 آانگستروم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1299C618-1361-B018-A9D4-264AA6CB03A4}"/>
              </a:ext>
            </a:extLst>
          </p:cNvPr>
          <p:cNvSpPr/>
          <p:nvPr/>
        </p:nvSpPr>
        <p:spPr>
          <a:xfrm>
            <a:off x="3758281" y="260101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33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05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592931"/>
            <a:ext cx="863600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160"/>
              </a:lnSpc>
              <a:buNone/>
            </a:pPr>
            <a:r>
              <a:rPr lang="en-US" sz="1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دو تسک اصلی مدل</a:t>
            </a:r>
            <a:endParaRPr lang="en-US" sz="1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2335" y="905195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1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Distance + Angle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174366"/>
            <a:ext cx="4100513" cy="30261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43438" y="1188653"/>
            <a:ext cx="4100513" cy="0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40378" y="1174366"/>
            <a:ext cx="0" cy="3026159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3438" y="4196953"/>
            <a:ext cx="41005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7009" y="1174366"/>
            <a:ext cx="0" cy="3026159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174366"/>
            <a:ext cx="4100513" cy="302615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0050" y="1188653"/>
            <a:ext cx="4100513" cy="0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6991" y="1174366"/>
            <a:ext cx="0" cy="3026159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00050" y="4196953"/>
            <a:ext cx="41005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3622" y="1174366"/>
            <a:ext cx="0" cy="3026159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4314825"/>
            <a:ext cx="8343900" cy="4286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8188" y="4400550"/>
            <a:ext cx="257175" cy="2571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3191" y="442555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FFF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40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496990" y="4400550"/>
            <a:ext cx="1346315" cy="28429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35000"/>
            </a:schemeClr>
          </a:solidFill>
          <a:ln/>
        </p:spPr>
        <p:txBody>
          <a:bodyPr wrap="square" rtlCol="0" anchor="ctr"/>
          <a:lstStyle/>
          <a:p>
            <a:pPr algn="ctr">
              <a:lnSpc>
                <a:spcPct val="30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L = </a:t>
            </a:r>
            <a:r>
              <a:rPr lang="en-US" sz="105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L_dis</a:t>
            </a:r>
            <a:r>
              <a:rPr lang="en-US" sz="105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 + </a:t>
            </a:r>
            <a:r>
              <a:rPr lang="en-US" sz="105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L_ang</a:t>
            </a:r>
            <a:endParaRPr lang="en-US" sz="105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endParaRPr lang="en-US" sz="105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28638" y="4439841"/>
            <a:ext cx="77295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ترکیب</a:t>
            </a: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خطای این</a:t>
            </a: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دو</a:t>
            </a: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، نمایش ساختاری غنی‌تر </a:t>
            </a:r>
            <a:r>
              <a:rPr lang="en-US" sz="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می‌دهد</a:t>
            </a: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: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۵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894" y="1404863"/>
            <a:ext cx="314325" cy="3143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326755" y="14377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✦</a:t>
            </a:r>
            <a:endParaRPr lang="en-US" sz="168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648455" y="1329671"/>
            <a:ext cx="575609" cy="187595"/>
          </a:xfrm>
          <a:prstGeom prst="roundRect">
            <a:avLst>
              <a:gd name="adj" fmla="val 22676"/>
            </a:avLst>
          </a:prstGeom>
          <a:solidFill>
            <a:srgbClr val="0E8F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734598" y="1357722"/>
            <a:ext cx="397371" cy="150019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FFFF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TASK 1</a:t>
            </a:r>
            <a:endParaRPr lang="en-US" sz="8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624724" y="1517266"/>
            <a:ext cx="1583444" cy="128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r">
              <a:lnSpc>
                <a:spcPts val="1114"/>
              </a:lnSpc>
              <a:buNone/>
            </a:pPr>
            <a:r>
              <a:rPr lang="en-US" sz="1013" kern="0" spc="-1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Distance Prediction</a:t>
            </a:r>
            <a:endParaRPr lang="en-US" sz="1013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749022" y="1672977"/>
            <a:ext cx="14591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5"/>
              </a:lnSpc>
              <a:buNone/>
            </a:pP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پیش‌بینی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فاصله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4779169" y="2047800"/>
            <a:ext cx="3796188" cy="159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r" rtl="1">
              <a:lnSpc>
                <a:spcPct val="20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فاصله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بین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جفت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residue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ها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بهbin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های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مساوی تقسیم می‌شود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0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مدل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باید کلاس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درست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bin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را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پیش‌بینی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کند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(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طبقه‌بندی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چندکلاسه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)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0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Loss: Cross-Entropy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0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نقش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: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شکل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کلی backbone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 چینش فضایی پروتئین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4779169" y="3796903"/>
            <a:ext cx="3829050" cy="282178"/>
          </a:xfrm>
          <a:prstGeom prst="roundRect">
            <a:avLst>
              <a:gd name="adj" fmla="val 3375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8138874" y="3887093"/>
            <a:ext cx="369332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02"/>
              </a:lnSpc>
              <a:buNone/>
            </a:pPr>
            <a:r>
              <a:rPr lang="en-US" sz="800" kern="0" spc="84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L_dis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4879181" y="3868341"/>
            <a:ext cx="359289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-1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= CrossEntropy(d_ij_class, d̂_ij_class)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506" y="1404863"/>
            <a:ext cx="314325" cy="3143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83368" y="14377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↻</a:t>
            </a:r>
            <a:endParaRPr lang="en-US" sz="168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3359161" y="1329671"/>
            <a:ext cx="621516" cy="178070"/>
          </a:xfrm>
          <a:prstGeom prst="roundRect">
            <a:avLst>
              <a:gd name="adj" fmla="val 22676"/>
            </a:avLst>
          </a:prstGeom>
          <a:solidFill>
            <a:srgbClr val="0E8F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3465810" y="1345022"/>
            <a:ext cx="397371" cy="150019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FFFF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TASK 2</a:t>
            </a:r>
            <a:endParaRPr lang="en-US" sz="8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2266405" y="1517266"/>
            <a:ext cx="1698376" cy="128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r">
              <a:lnSpc>
                <a:spcPts val="1114"/>
              </a:lnSpc>
              <a:buNone/>
            </a:pPr>
            <a:r>
              <a:rPr lang="en-US" sz="1013" kern="0" spc="-1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Angle Prediction</a:t>
            </a:r>
            <a:endParaRPr lang="en-US" sz="1013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2217880" y="1672977"/>
            <a:ext cx="17469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5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بازسازی زوایای دیهدرال ماسک‌شده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35781" y="1878360"/>
            <a:ext cx="3818333" cy="180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r" rtl="1">
              <a:lnSpc>
                <a:spcPct val="25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بخشی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از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residue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ها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mask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می‌شوند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و زوایای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دیهدرال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(φ, ψ)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بازسازی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می‌شوند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5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مدل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خمیدگی محلی backbone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را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یاد می‌گیرد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5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Loss: MSE (Mean Squared Error)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71450" indent="-171450" algn="r" rtl="1">
              <a:lnSpc>
                <a:spcPct val="250000"/>
              </a:lnSpc>
              <a:spcAft>
                <a:spcPts val="394"/>
              </a:spcAft>
              <a:buFont typeface="Wingdings" panose="05000000000000000000" pitchFamily="2" charset="2"/>
              <a:buChar char="Ø"/>
            </a:pP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نقش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: ریزساختار فضایی و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پیچیدگی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محلی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535781" y="3796903"/>
            <a:ext cx="3829050" cy="282178"/>
          </a:xfrm>
          <a:prstGeom prst="roundRect">
            <a:avLst>
              <a:gd name="adj" fmla="val 3375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3859232" y="3887093"/>
            <a:ext cx="405586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2"/>
              </a:lnSpc>
              <a:buNone/>
            </a:pPr>
            <a:r>
              <a:rPr lang="en-US" sz="800" kern="0" spc="84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L_ang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635794" y="3868341"/>
            <a:ext cx="356842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-1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B Nazanin" panose="00000400000000000000" pitchFamily="2" charset="-78"/>
              </a:rPr>
              <a:t>= Σ (φ_i − φ̂_i)² + (ψ_i − ψ̂_i)²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06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592931"/>
            <a:ext cx="8636000" cy="265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688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مقایسه و مزیت‌ها</a:t>
            </a:r>
            <a:endParaRPr lang="en-US" sz="168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37" y="1116211"/>
            <a:ext cx="2724113" cy="88359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88" y="1116211"/>
            <a:ext cx="2724224" cy="88359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116211"/>
            <a:ext cx="2724113" cy="8835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19030" y="2276870"/>
            <a:ext cx="2524087" cy="17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28"/>
              </a:lnSpc>
            </a:pPr>
            <a:r>
              <a:rPr lang="en-US" sz="9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مقایسه </a:t>
            </a:r>
            <a:r>
              <a:rPr lang="en-US" sz="900" b="1" kern="0" spc="84" dirty="0" err="1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روش‌ها</a:t>
            </a:r>
            <a:r>
              <a:rPr lang="en-US" sz="9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—(٪)</a:t>
            </a:r>
            <a:r>
              <a:rPr lang="en-US" sz="900" b="1" kern="0" spc="84" dirty="0" err="1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دقت</a:t>
            </a:r>
            <a:r>
              <a:rPr lang="en-US" sz="9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benchmark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232967" y="2250518"/>
            <a:ext cx="69037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▦</a:t>
            </a:r>
            <a:endParaRPr lang="en-US" sz="984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840550"/>
              </p:ext>
            </p:extLst>
          </p:nvPr>
        </p:nvGraphicFramePr>
        <p:xfrm>
          <a:off x="299243" y="2555727"/>
          <a:ext cx="8329613" cy="1293020"/>
        </p:xfrm>
        <a:graphic>
          <a:graphicData uri="http://schemas.openxmlformats.org/drawingml/2006/table">
            <a:tbl>
              <a:tblPr/>
              <a:tblGrid>
                <a:gridCol w="3165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روش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C2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C10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C384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Pre-LM (sequence-only)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58.00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35.00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1.32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DeepFRI (structure+LM)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88.38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69.23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15.72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STEPS-w/oLM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77.82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42.51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3.89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STEPS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8F8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89.61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8F8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71.05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8F8F"/>
                          </a:solidFill>
                          <a:latin typeface="Times New Roman" panose="02020603050405020304" pitchFamily="18" charset="0"/>
                          <a:ea typeface="Carlito" pitchFamily="34" charset="-122"/>
                          <a:cs typeface="Times New Roman" panose="02020603050405020304" pitchFamily="18" charset="0"/>
                        </a:rPr>
                        <a:t>65.38</a:t>
                      </a:r>
                      <a:endParaRPr lang="en-US" sz="900" dirty="0">
                        <a:latin typeface="Times New Roman" panose="02020603050405020304" pitchFamily="18" charset="0"/>
                        <a:ea typeface="Carlito" charset="0"/>
                        <a:cs typeface="Times New Roman" panose="02020603050405020304" pitchFamily="18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5919030" y="4097872"/>
            <a:ext cx="2724113" cy="375258"/>
          </a:xfrm>
          <a:prstGeom prst="roundRect">
            <a:avLst>
              <a:gd name="adj" fmla="val 191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5919030" y="4082903"/>
            <a:ext cx="27241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638777" y="4079331"/>
            <a:ext cx="0" cy="397371"/>
          </a:xfrm>
          <a:prstGeom prst="line">
            <a:avLst/>
          </a:prstGeom>
          <a:noFill/>
          <a:ln w="21431">
            <a:solidFill>
              <a:srgbClr val="13C2C2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919030" y="4473130"/>
            <a:ext cx="27241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922602" y="4079331"/>
            <a:ext cx="0" cy="39737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385967" y="4164931"/>
            <a:ext cx="368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✓</a:t>
            </a:r>
            <a:endParaRPr lang="en-US" sz="112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905140" y="4218340"/>
            <a:ext cx="2582822" cy="275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03"/>
              </a:lnSpc>
            </a:pP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از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هر دو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گروه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بهتر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عمل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می‌کند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sequence-only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و</a:t>
            </a:r>
            <a:r>
              <a:rPr lang="en-US" sz="900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structure-only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3109081" y="4079331"/>
            <a:ext cx="2724224" cy="397371"/>
          </a:xfrm>
          <a:prstGeom prst="roundRect">
            <a:avLst>
              <a:gd name="adj" fmla="val 191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109081" y="4082903"/>
            <a:ext cx="2724224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822590" y="4079331"/>
            <a:ext cx="0" cy="397371"/>
          </a:xfrm>
          <a:prstGeom prst="line">
            <a:avLst/>
          </a:prstGeom>
          <a:noFill/>
          <a:ln w="21431">
            <a:solidFill>
              <a:srgbClr val="13C2C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109081" y="4473130"/>
            <a:ext cx="2724224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112653" y="4079331"/>
            <a:ext cx="0" cy="39737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122390" y="4165056"/>
            <a:ext cx="6037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↗</a:t>
            </a:r>
            <a:endParaRPr lang="en-US" sz="112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3212665" y="4063286"/>
            <a:ext cx="2274055" cy="26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برتری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چشمگیر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ساختار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،</a:t>
            </a:r>
          </a:p>
          <a:p>
            <a:pPr algn="ctr">
              <a:lnSpc>
                <a:spcPct val="150000"/>
              </a:lnSpc>
            </a:pPr>
            <a:r>
              <a:rPr lang="en-US" sz="900" dirty="0">
                <a:solidFill>
                  <a:srgbClr val="0E8F8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C384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(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واکنش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آنزیمی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)  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299243" y="4079331"/>
            <a:ext cx="2724113" cy="397371"/>
          </a:xfrm>
          <a:prstGeom prst="roundRect">
            <a:avLst>
              <a:gd name="adj" fmla="val 191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299243" y="4082903"/>
            <a:ext cx="27241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012640" y="4079331"/>
            <a:ext cx="0" cy="397371"/>
          </a:xfrm>
          <a:prstGeom prst="line">
            <a:avLst/>
          </a:prstGeom>
          <a:noFill/>
          <a:ln w="21431">
            <a:solidFill>
              <a:srgbClr val="13C2C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99243" y="4473130"/>
            <a:ext cx="2724113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02815" y="4079331"/>
            <a:ext cx="0" cy="39737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515926" y="4165056"/>
            <a:ext cx="4002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⚠</a:t>
            </a:r>
            <a:endParaRPr lang="en-US" sz="1125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492127" y="4187879"/>
            <a:ext cx="2079822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3"/>
              </a:lnSpc>
              <a:buNone/>
            </a:pP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حذف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هر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تسک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 </a:t>
            </a:r>
            <a:r>
              <a:rPr lang="en-US" sz="900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MI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یا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PLM</a:t>
            </a:r>
            <a:r>
              <a:rPr lang="en-US" sz="9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→ افت شدید کیفیت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۶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134137" y="1201936"/>
            <a:ext cx="249551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84" dirty="0">
                <a:solidFill>
                  <a:srgbClr val="13C2C2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C2 BENCHMARK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6134137" y="1357336"/>
            <a:ext cx="2495513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2138" kern="0" spc="-56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۸۹.۶۱</a:t>
            </a:r>
            <a:r>
              <a:rPr lang="en-US" sz="1688" kern="0" spc="-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٪</a:t>
            </a:r>
            <a:endParaRPr lang="en-US" sz="213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134137" y="1809155"/>
            <a:ext cx="2495513" cy="10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7"/>
              </a:lnSpc>
              <a:buNone/>
            </a:pPr>
            <a:r>
              <a:rPr lang="en-US" sz="800" dirty="0">
                <a:solidFill>
                  <a:srgbClr val="B8C7DC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membrane/non-membrane classification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3324188" y="1201936"/>
            <a:ext cx="249562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84" dirty="0">
                <a:solidFill>
                  <a:srgbClr val="13C2C2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C10 BENCHMARK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3324188" y="1357336"/>
            <a:ext cx="2495624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2138" kern="0" spc="-56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۷۱.۰۵</a:t>
            </a:r>
            <a:r>
              <a:rPr lang="en-US" sz="1688" kern="0" spc="-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٪</a:t>
            </a:r>
            <a:endParaRPr lang="en-US" sz="213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3324188" y="1809155"/>
            <a:ext cx="2495624" cy="10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7"/>
              </a:lnSpc>
              <a:buNone/>
            </a:pPr>
            <a:r>
              <a:rPr lang="en-US" sz="800" dirty="0">
                <a:solidFill>
                  <a:srgbClr val="B8C7DC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cellular compartment prediction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514350" y="1201936"/>
            <a:ext cx="249551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84" dirty="0">
                <a:solidFill>
                  <a:srgbClr val="13C2C2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C384 BENCHMARK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496044" y="1369266"/>
            <a:ext cx="2495513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2138" kern="0" spc="-56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۶۵.۳۸</a:t>
            </a:r>
            <a:r>
              <a:rPr lang="en-US" sz="1688" kern="0" spc="-56" dirty="0">
                <a:solidFill>
                  <a:srgbClr val="13C2C2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٪</a:t>
            </a:r>
            <a:endParaRPr lang="en-US" sz="213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527843" y="1757433"/>
            <a:ext cx="2495513" cy="18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7"/>
              </a:lnSpc>
              <a:buNone/>
            </a:pPr>
            <a:r>
              <a:rPr lang="en-US" sz="800" dirty="0">
                <a:solidFill>
                  <a:srgbClr val="B8C7DC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enzyme class (۳۶٪ </a:t>
            </a:r>
            <a:r>
              <a:rPr lang="en-US" sz="800" dirty="0" err="1">
                <a:solidFill>
                  <a:srgbClr val="B8C7DC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بهبود</a:t>
            </a:r>
            <a:r>
              <a:rPr lang="en-US" sz="800" dirty="0">
                <a:solidFill>
                  <a:srgbClr val="B8C7DC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)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07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592931"/>
            <a:ext cx="8636000" cy="265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1688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چالش‌ها و محدودیت‌ها</a:t>
            </a:r>
            <a:endParaRPr lang="en-US" sz="1688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8858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محدودیت‌های داده، هماهنگی و حساسیت به حذف اجزا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90092" y="1146572"/>
            <a:ext cx="1264907" cy="14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900" b="1" kern="0" spc="84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چهار چالش کلیدی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87717" y="1116211"/>
            <a:ext cx="7562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⊗</a:t>
            </a:r>
            <a:endParaRPr lang="en-US" sz="984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1373386"/>
            <a:ext cx="8051800" cy="5860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2150" y="1376958"/>
            <a:ext cx="80518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29663" y="1373386"/>
            <a:ext cx="0" cy="586011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92150" y="1955824"/>
            <a:ext cx="8051800" cy="34409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2150" y="1387561"/>
            <a:ext cx="0" cy="58601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3906" y="145196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6DE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4980" y="14730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C0392B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◐</a:t>
            </a:r>
            <a:endParaRPr lang="en-US" sz="126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43875" y="1459111"/>
            <a:ext cx="171450" cy="130373"/>
          </a:xfrm>
          <a:prstGeom prst="roundRect">
            <a:avLst>
              <a:gd name="adj" fmla="val 292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3083" y="1466255"/>
            <a:ext cx="1600786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کمبود داده ساختاری معتبر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32902" y="1451289"/>
            <a:ext cx="193396" cy="146018"/>
          </a:xfrm>
          <a:prstGeom prst="roundRect">
            <a:avLst>
              <a:gd name="adj" fmla="val 26093"/>
            </a:avLst>
          </a:prstGeom>
          <a:solidFill>
            <a:srgbClr val="FFFFFF"/>
          </a:solidFill>
          <a:ln w="7144">
            <a:solidFill>
              <a:srgbClr val="C0392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43875" y="1459111"/>
            <a:ext cx="171450" cy="130373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28" dirty="0">
                <a:solidFill>
                  <a:srgbClr val="C0392B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۰۱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333354" y="1656600"/>
            <a:ext cx="3981971" cy="19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تعداد پروتئین‌های دارای ساختار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معتبر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بسیار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کمتر از توالی‌های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موجود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است</a:t>
            </a:r>
            <a:r>
              <a:rPr lang="fa-IR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،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گلوگاه</a:t>
            </a:r>
            <a:r>
              <a:rPr lang="en-US" sz="9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اصلی یادگیری ساختاری.</a:t>
            </a:r>
            <a:endParaRPr lang="en-US" sz="9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2150" y="2016547"/>
            <a:ext cx="8051800" cy="586011"/>
          </a:xfrm>
          <a:prstGeom prst="roundRect">
            <a:avLst>
              <a:gd name="adj" fmla="val 16254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92150" y="1997132"/>
            <a:ext cx="8051800" cy="22987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29663" y="2016547"/>
            <a:ext cx="0" cy="586011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2150" y="2595659"/>
            <a:ext cx="8051800" cy="3327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2150" y="2009648"/>
            <a:ext cx="0" cy="58601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93906" y="209512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414980" y="211620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↻</a:t>
            </a:r>
            <a:endParaRPr lang="en-US" sz="126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143875" y="2102272"/>
            <a:ext cx="171450" cy="130373"/>
          </a:xfrm>
          <a:prstGeom prst="roundRect">
            <a:avLst>
              <a:gd name="adj" fmla="val 292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575301" y="2109414"/>
            <a:ext cx="2518567" cy="20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نیاز به هماهنگی </a:t>
            </a:r>
            <a:r>
              <a:rPr lang="en-US" sz="900" b="1" dirty="0" err="1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دقیق</a:t>
            </a: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 </a:t>
            </a: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sequence</a:t>
            </a:r>
            <a:r>
              <a:rPr lang="fa-IR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و</a:t>
            </a:r>
            <a:r>
              <a:rPr lang="fa-IR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structure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32902" y="2094449"/>
            <a:ext cx="193396" cy="146018"/>
          </a:xfrm>
          <a:prstGeom prst="roundRect">
            <a:avLst>
              <a:gd name="adj" fmla="val 26093"/>
            </a:avLst>
          </a:prstGeom>
          <a:solidFill>
            <a:srgbClr val="FFFFFF"/>
          </a:solidFill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143875" y="2102272"/>
            <a:ext cx="171450" cy="130373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28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۰۲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333353" y="2343388"/>
            <a:ext cx="3981971" cy="2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ترازسازی دقیق بین توالی و ساختار برای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هر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امینو اسید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ضروری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است؛ 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 غیر اینصورت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به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افت کیفیت منجر می‌شود.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92150" y="2659707"/>
            <a:ext cx="8051800" cy="586011"/>
          </a:xfrm>
          <a:prstGeom prst="roundRect">
            <a:avLst>
              <a:gd name="adj" fmla="val 16254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3613" y="2659707"/>
            <a:ext cx="8050337" cy="3572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29663" y="2659707"/>
            <a:ext cx="0" cy="586011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693613" y="3242145"/>
            <a:ext cx="8050337" cy="14287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3613" y="2663279"/>
            <a:ext cx="0" cy="58601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393906" y="273828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414980" y="27593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⚠</a:t>
            </a:r>
            <a:endParaRPr lang="en-US" sz="126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143875" y="2745432"/>
            <a:ext cx="171450" cy="130373"/>
          </a:xfrm>
          <a:prstGeom prst="roundRect">
            <a:avLst>
              <a:gd name="adj" fmla="val 292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635958" y="2752576"/>
            <a:ext cx="145791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حساسیت به کیفیت ساختار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132902" y="2737610"/>
            <a:ext cx="193396" cy="146018"/>
          </a:xfrm>
          <a:prstGeom prst="roundRect">
            <a:avLst>
              <a:gd name="adj" fmla="val 26093"/>
            </a:avLst>
          </a:prstGeom>
          <a:solidFill>
            <a:srgbClr val="FFFFFF"/>
          </a:solidFill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143875" y="2745432"/>
            <a:ext cx="171450" cy="130373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28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۰۳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361929" y="3012658"/>
            <a:ext cx="3981971" cy="2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اگر ساختار معتبر نباشد یا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ترکیب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درست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انجام نشود، عملکرد مدل به شدت افت می‌کند.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93613" y="3302868"/>
            <a:ext cx="8050337" cy="586011"/>
          </a:xfrm>
          <a:prstGeom prst="roundRect">
            <a:avLst>
              <a:gd name="adj" fmla="val 16254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92150" y="3302868"/>
            <a:ext cx="8051800" cy="3572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29663" y="3302868"/>
            <a:ext cx="0" cy="586011"/>
          </a:xfrm>
          <a:prstGeom prst="line">
            <a:avLst/>
          </a:prstGeom>
          <a:noFill/>
          <a:ln w="28575">
            <a:solidFill>
              <a:srgbClr val="13C2C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2150" y="3885307"/>
            <a:ext cx="80518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95076" y="3306561"/>
            <a:ext cx="0" cy="586011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93906" y="338144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6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8414980" y="340252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F8F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⊖</a:t>
            </a:r>
            <a:endParaRPr lang="en-US" sz="1266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143875" y="3388593"/>
            <a:ext cx="171450" cy="130373"/>
          </a:xfrm>
          <a:prstGeom prst="roundRect">
            <a:avLst>
              <a:gd name="adj" fmla="val 292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734184" y="3395737"/>
            <a:ext cx="1359684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39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حذف هر جزء → افت شدید</a:t>
            </a:r>
            <a:endParaRPr lang="en-US" sz="900" b="1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132902" y="3380771"/>
            <a:ext cx="193396" cy="146018"/>
          </a:xfrm>
          <a:prstGeom prst="roundRect">
            <a:avLst>
              <a:gd name="adj" fmla="val 26093"/>
            </a:avLst>
          </a:prstGeom>
          <a:solidFill>
            <a:srgbClr val="FFFFFF"/>
          </a:solidFill>
          <a:ln w="7144">
            <a:solidFill>
              <a:srgbClr val="13C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143875" y="3388593"/>
            <a:ext cx="171450" cy="130373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28" dirty="0">
                <a:solidFill>
                  <a:srgbClr val="0E8F8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۰۴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333354" y="3572422"/>
            <a:ext cx="3981971" cy="2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35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حذف یکی از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اجزا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باعث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افت قابل توجه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دقت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می‌شود</a:t>
            </a:r>
            <a:r>
              <a:rPr lang="fa-IR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</a:t>
            </a:r>
            <a:r>
              <a:rPr lang="en-US" sz="800" dirty="0" err="1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طراحی</a:t>
            </a: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 به هم پیوسته است.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۷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57500"/>
            <a:ext cx="7283834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4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2068" y="257175"/>
            <a:ext cx="7679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kern="0" spc="-112" dirty="0">
                <a:solidFill>
                  <a:srgbClr val="0B2545">
                    <a:alpha val="8000"/>
                  </a:srgbClr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08</a:t>
            </a:r>
            <a:endParaRPr lang="en-US" sz="36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9664" y="371475"/>
            <a:ext cx="63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b="1" kern="0" spc="113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SECTION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0050" y="4811316"/>
            <a:ext cx="8343900" cy="0"/>
          </a:xfrm>
          <a:prstGeom prst="line">
            <a:avLst/>
          </a:prstGeom>
          <a:noFill/>
          <a:ln w="7144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1985" y="4886325"/>
            <a:ext cx="10219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5B6B8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STEPS — Protein SSL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4886325"/>
            <a:ext cx="1715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۸ / ۸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43900" y="442913"/>
            <a:ext cx="400050" cy="35719"/>
          </a:xfrm>
          <a:prstGeom prst="roundRect">
            <a:avLst>
              <a:gd name="adj" fmla="val 79999"/>
            </a:avLst>
          </a:prstGeom>
          <a:solidFill>
            <a:srgbClr val="13C2C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31" y="1421500"/>
            <a:ext cx="8343900" cy="213676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003358" y="2377384"/>
            <a:ext cx="164610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6"/>
              </a:lnSpc>
              <a:buNone/>
            </a:pPr>
            <a:r>
              <a:rPr lang="en-US" sz="2400" b="1" kern="0" spc="-17" dirty="0">
                <a:solidFill>
                  <a:srgbClr val="FFFFFF"/>
                </a:solidFill>
                <a:latin typeface="Times New Roman" panose="02020603050405020304" pitchFamily="18" charset="0"/>
                <a:ea typeface="Carlito" pitchFamily="34" charset="-122"/>
                <a:cs typeface="B Nazanin" panose="00000400000000000000" pitchFamily="2" charset="-78"/>
              </a:rPr>
              <a:t>با تشکر از توجه شما</a:t>
            </a:r>
            <a:endParaRPr lang="en-US" sz="2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2657406" y="2069575"/>
            <a:ext cx="1345952" cy="7723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♥</a:t>
            </a:r>
            <a:endParaRPr lang="en-US" sz="2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3568638" y="3179281"/>
            <a:ext cx="2006724" cy="246460"/>
          </a:xfrm>
          <a:prstGeom prst="roundRect">
            <a:avLst>
              <a:gd name="adj" fmla="val 3917639"/>
            </a:avLst>
          </a:prstGeom>
          <a:solidFill>
            <a:srgbClr val="FFFFFF">
              <a:alpha val="1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4140994" y="3199335"/>
            <a:ext cx="1241896" cy="114499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marL="0" indent="0" algn="r">
              <a:lnSpc>
                <a:spcPts val="9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Times New Roman" panose="02020603050405020304" pitchFamily="18" charset="0"/>
                <a:ea typeface="Liberation Sans Narrow" pitchFamily="34" charset="-122"/>
                <a:cs typeface="B Nazanin" panose="00000400000000000000" pitchFamily="2" charset="-78"/>
              </a:rPr>
              <a:t>Chen et al., Bioinformatics 2023</a:t>
            </a:r>
            <a:endParaRPr lang="en-US" sz="8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3656639" y="3238825"/>
            <a:ext cx="561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▤</a:t>
            </a:r>
            <a:r>
              <a:rPr lang="fa-IR" sz="984" dirty="0">
                <a:solidFill>
                  <a:srgbClr val="13C2C2"/>
                </a:solidFill>
                <a:latin typeface="Times New Roman" panose="02020603050405020304" pitchFamily="18" charset="0"/>
                <a:ea typeface="Segoe UI Symbol" pitchFamily="34" charset="-122"/>
                <a:cs typeface="B Nazanin" panose="00000400000000000000" pitchFamily="2" charset="-78"/>
              </a:rPr>
              <a:t>       </a:t>
            </a:r>
            <a:endParaRPr lang="en-US" sz="984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1253</Words>
  <Application>Microsoft Office PowerPoint</Application>
  <PresentationFormat>On-screen Show (16:9)</PresentationFormat>
  <Paragraphs>214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 Nazanin</vt:lpstr>
      <vt:lpstr>Calibri</vt:lpstr>
      <vt:lpstr>Carlito</vt:lpstr>
      <vt:lpstr>Liberation Sans Narrow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Mojtaba Riahi</cp:lastModifiedBy>
  <cp:revision>114</cp:revision>
  <dcterms:created xsi:type="dcterms:W3CDTF">2026-06-18T20:18:06Z</dcterms:created>
  <dcterms:modified xsi:type="dcterms:W3CDTF">2026-06-19T17:08:37Z</dcterms:modified>
</cp:coreProperties>
</file>